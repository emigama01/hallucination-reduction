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4"/>
  </p:notesMasterIdLst>
  <p:sldIdLst>
    <p:sldId id="258" r:id="rId2"/>
    <p:sldId id="261" r:id="rId3"/>
    <p:sldId id="273" r:id="rId4"/>
    <p:sldId id="272" r:id="rId5"/>
    <p:sldId id="262" r:id="rId6"/>
    <p:sldId id="270" r:id="rId7"/>
    <p:sldId id="264" r:id="rId8"/>
    <p:sldId id="265" r:id="rId9"/>
    <p:sldId id="260" r:id="rId10"/>
    <p:sldId id="266" r:id="rId11"/>
    <p:sldId id="271" r:id="rId12"/>
    <p:sldId id="274" r:id="rId13"/>
  </p:sldIdLst>
  <p:sldSz cx="9144000" cy="6858000" type="screen4x3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72C"/>
    <a:srgbClr val="69B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11"/>
    <p:restoredTop sz="93333" autoAdjust="0"/>
  </p:normalViewPr>
  <p:slideViewPr>
    <p:cSldViewPr snapToGrid="0" snapToObjects="1">
      <p:cViewPr varScale="1">
        <p:scale>
          <a:sx n="115" d="100"/>
          <a:sy n="115" d="100"/>
        </p:scale>
        <p:origin x="9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a Nacif El Alaoui" userId="69746eab-fe43-459f-a36f-cd87144df17e" providerId="ADAL" clId="{FD23A653-43BC-42C3-AD44-0AA15F2914BA}"/>
    <pc:docChg chg="modSld">
      <pc:chgData name="Reda Nacif El Alaoui" userId="69746eab-fe43-459f-a36f-cd87144df17e" providerId="ADAL" clId="{FD23A653-43BC-42C3-AD44-0AA15F2914BA}" dt="2026-01-16T17:52:30.945" v="44" actId="20577"/>
      <pc:docMkLst>
        <pc:docMk/>
      </pc:docMkLst>
      <pc:sldChg chg="modSp mod">
        <pc:chgData name="Reda Nacif El Alaoui" userId="69746eab-fe43-459f-a36f-cd87144df17e" providerId="ADAL" clId="{FD23A653-43BC-42C3-AD44-0AA15F2914BA}" dt="2026-01-16T17:52:30.945" v="44" actId="20577"/>
        <pc:sldMkLst>
          <pc:docMk/>
          <pc:sldMk cId="3237590156" sldId="258"/>
        </pc:sldMkLst>
        <pc:spChg chg="mod">
          <ac:chgData name="Reda Nacif El Alaoui" userId="69746eab-fe43-459f-a36f-cd87144df17e" providerId="ADAL" clId="{FD23A653-43BC-42C3-AD44-0AA15F2914BA}" dt="2026-01-16T17:52:30.945" v="44" actId="20577"/>
          <ac:spMkLst>
            <pc:docMk/>
            <pc:sldMk cId="3237590156" sldId="258"/>
            <ac:spMk id="9" creationId="{A2163CFA-8E03-DC47-AB89-020E49AEA1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782C7-A981-DA49-9F80-7A4E75405182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412654-83C3-6247-B37B-7386861A2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43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C60DCD-A1EE-D04E-A050-0D41A7407592}"/>
              </a:ext>
            </a:extLst>
          </p:cNvPr>
          <p:cNvSpPr/>
          <p:nvPr userDrawn="1"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28DFAC-6C93-D941-AD4C-56B7F38F7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236468" y="-171450"/>
            <a:ext cx="3076696" cy="30766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56F2F19-5F1F-9540-9B80-03841B943248}"/>
              </a:ext>
            </a:extLst>
          </p:cNvPr>
          <p:cNvSpPr/>
          <p:nvPr userDrawn="1"/>
        </p:nvSpPr>
        <p:spPr>
          <a:xfrm>
            <a:off x="0" y="2651760"/>
            <a:ext cx="9144000" cy="9144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006448-8A20-764C-A113-1826193078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2150" y="6176068"/>
            <a:ext cx="2743200" cy="2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693670"/>
            <a:ext cx="3886200" cy="34767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4AE9C-67F5-1A41-89B0-DEEE29CEB63B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E368CC-3F6A-894C-9234-DC83E799A195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72DBF6-0DAC-E148-9CD9-C668F894CB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233169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23317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992293"/>
            <a:ext cx="2949178" cy="311450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BBDD-4F51-5942-AA98-E7E60DD246B8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2223B-7DCB-0A48-A51E-8DF64C6AB09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FA19B8AF-179C-6A40-9FCF-C1F83ADF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87DC1-D29E-C342-8A11-CCD0B4FE6B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56338-8C42-5A4C-B15A-5E6D618BF4F2}"/>
              </a:ext>
            </a:extLst>
          </p:cNvPr>
          <p:cNvSpPr/>
          <p:nvPr userDrawn="1"/>
        </p:nvSpPr>
        <p:spPr>
          <a:xfrm>
            <a:off x="0" y="-1"/>
            <a:ext cx="9144000" cy="914401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F877C-2745-294D-A776-CA518D80DE0A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0B38AD8-F3C5-7940-BF85-B96BF38E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FA62369-8A22-664A-A57A-10CC43BA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FA4AFD9-2B8B-FE40-A4BC-0A4258AA8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693670"/>
            <a:ext cx="7886700" cy="3476724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CD807D-CF7D-A84C-AABB-8EB38292CA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4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5645F-D1FD-AB49-94B6-E1A0A46E6E38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C020F-74CE-744F-B417-D101F5F860F7}"/>
              </a:ext>
            </a:extLst>
          </p:cNvPr>
          <p:cNvSpPr/>
          <p:nvPr userDrawn="1"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9FC38-93A5-254A-9580-ADF945DCA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47355" y="322584"/>
            <a:ext cx="667996" cy="2692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57B61-6E93-3E4B-B366-DD651B8AFF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-685800" y="-685800"/>
            <a:ext cx="6175094" cy="617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5A77A-971A-3244-890F-3B99F774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9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7" r:id="rId3"/>
    <p:sldLayoutId id="2147483660" r:id="rId4"/>
    <p:sldLayoutId id="2147483665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4614B48C-432E-4046-9F84-C6EB95379FC1}"/>
              </a:ext>
            </a:extLst>
          </p:cNvPr>
          <p:cNvSpPr txBox="1">
            <a:spLocks noChangeArrowheads="1"/>
          </p:cNvSpPr>
          <p:nvPr/>
        </p:nvSpPr>
        <p:spPr>
          <a:xfrm>
            <a:off x="756214" y="3324755"/>
            <a:ext cx="6623825" cy="1972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163CFA-8E03-DC47-AB89-020E49AEA157}"/>
              </a:ext>
            </a:extLst>
          </p:cNvPr>
          <p:cNvSpPr txBox="1"/>
          <p:nvPr/>
        </p:nvSpPr>
        <p:spPr>
          <a:xfrm>
            <a:off x="661944" y="5771650"/>
            <a:ext cx="21723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By: Emilio Garcia Martinez (100783029)</a:t>
            </a:r>
          </a:p>
          <a:p>
            <a:r>
              <a:rPr lang="en-US" sz="1400" dirty="0"/>
              <a:t>Date: March 2, 2026</a:t>
            </a:r>
          </a:p>
          <a:p>
            <a:r>
              <a:rPr lang="it-IT" sz="1400" dirty="0"/>
              <a:t>AI700-001_BK_Spring 2026</a:t>
            </a:r>
            <a:endParaRPr lang="en-US" sz="14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03FC2FC-871F-DC0F-E62D-C99EBE74112B}"/>
              </a:ext>
            </a:extLst>
          </p:cNvPr>
          <p:cNvSpPr txBox="1">
            <a:spLocks noChangeArrowheads="1"/>
          </p:cNvSpPr>
          <p:nvPr/>
        </p:nvSpPr>
        <p:spPr>
          <a:xfrm>
            <a:off x="555499" y="957600"/>
            <a:ext cx="5481315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HALLUCINATION REDUCTION IN LARGE LANGUAGE MODELS</a:t>
            </a:r>
          </a:p>
        </p:txBody>
      </p:sp>
      <p:pic>
        <p:nvPicPr>
          <p:cNvPr id="4" name="Picture 3" descr="A black and white circular pattern&#10;&#10;AI-generated content may be incorrect.">
            <a:extLst>
              <a:ext uri="{FF2B5EF4-FFF2-40B4-BE49-F238E27FC236}">
                <a16:creationId xmlns:a16="http://schemas.microsoft.com/office/drawing/2014/main" id="{DF334AE7-C080-294C-FC9F-2BDEB167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349" y="2795751"/>
            <a:ext cx="4557441" cy="303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90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04744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1. Introduction</a:t>
            </a:r>
            <a:endParaRPr lang="en-US" dirty="0"/>
          </a:p>
          <a:p>
            <a:pPr marL="0" indent="0">
              <a:buNone/>
            </a:pPr>
            <a:r>
              <a:rPr dirty="0"/>
              <a:t>2. Application Areas</a:t>
            </a:r>
          </a:p>
          <a:p>
            <a:pPr marL="0" indent="0">
              <a:buNone/>
            </a:pPr>
            <a:r>
              <a:rPr dirty="0"/>
              <a:t>3. Literature Review</a:t>
            </a:r>
          </a:p>
          <a:p>
            <a:pPr marL="0" indent="0">
              <a:buNone/>
            </a:pPr>
            <a:r>
              <a:rPr dirty="0"/>
              <a:t>4. Literature Review Results</a:t>
            </a:r>
          </a:p>
          <a:p>
            <a:pPr marL="0" indent="0">
              <a:buNone/>
            </a:pPr>
            <a:r>
              <a:rPr dirty="0"/>
              <a:t>5. Methodology &amp; Approach</a:t>
            </a:r>
          </a:p>
          <a:p>
            <a:pPr marL="0" indent="0">
              <a:buNone/>
            </a:pPr>
            <a:r>
              <a:rPr dirty="0"/>
              <a:t>6. Tools &amp; Libraries</a:t>
            </a:r>
          </a:p>
          <a:p>
            <a:pPr marL="0" indent="0">
              <a:buNone/>
            </a:pPr>
            <a:r>
              <a:rPr dirty="0"/>
              <a:t>7. Expected Results</a:t>
            </a:r>
          </a:p>
          <a:p>
            <a:pPr marL="0" indent="0">
              <a:buNone/>
            </a:pPr>
            <a:r>
              <a:rPr dirty="0"/>
              <a:t>8. Conclusion &amp; Future Work</a:t>
            </a:r>
          </a:p>
          <a:p>
            <a:pPr marL="0" indent="0">
              <a:buNone/>
            </a:pPr>
            <a:r>
              <a:rPr dirty="0"/>
              <a:t>9. References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Outlines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C8CBDB-C241-4C9B-9B12-C17CD5A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1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BCF1-984E-8948-950A-5CD959835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22947"/>
            <a:ext cx="7886700" cy="52334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LLMs generate fluent, confident text that can be factually incorrect, fabricated, or unsupported by source material — this is known as hallucination</a:t>
            </a:r>
          </a:p>
          <a:p>
            <a:r>
              <a:rPr sz="2400" dirty="0"/>
              <a:t>Hallucination types include intrinsic (self-contradictions), extrinsic (ungrounded claims), factual (wrong facts), and logical (flawed reasoning)</a:t>
            </a:r>
          </a:p>
          <a:p>
            <a:r>
              <a:rPr sz="2400" dirty="0"/>
              <a:t>Root causes include training data gaps, probabilistic decoding, and lack of grounding in verifiable knowledge</a:t>
            </a:r>
          </a:p>
          <a:p>
            <a:r>
              <a:rPr sz="2400" dirty="0"/>
              <a:t>Reducing hallucinations is essential for safe LLM deployment in healthcare, legal, education, and finance domains</a:t>
            </a:r>
          </a:p>
          <a:p>
            <a:r>
              <a:rPr sz="2400" dirty="0"/>
              <a:t>Key reduction strategies: Retrieval-Augmented Generation (RAG), prompt engineering (chain-of-thought), and hallucination-aware fine-tuning (DPO)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684B8B-43FC-324A-B112-F515B802157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8BD0-994E-4EA0-A0B0-4FC8DE30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8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E83A-6C8C-7541-9538-BD4C0FC9B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5754"/>
            <a:ext cx="7886700" cy="4974640"/>
          </a:xfrm>
        </p:spPr>
        <p:txBody>
          <a:bodyPr>
            <a:normAutofit lnSpcReduction="10000"/>
          </a:bodyPr>
          <a:lstStyle/>
          <a:p>
            <a:r>
              <a:rPr dirty="0"/>
              <a:t>Healthcare: Fabricated drug interactions or medical diagnoses can endanger patients </a:t>
            </a:r>
            <a:r>
              <a:rPr lang="en-US" dirty="0"/>
              <a:t>-</a:t>
            </a:r>
            <a:r>
              <a:rPr dirty="0"/>
              <a:t> reduction is critical for medical AI assistants</a:t>
            </a:r>
          </a:p>
          <a:p>
            <a:r>
              <a:rPr dirty="0"/>
              <a:t>Legal: Nonexistent case law citations undermine trust in AI-assisted legal research and can lead to professional consequences</a:t>
            </a:r>
          </a:p>
          <a:p>
            <a:r>
              <a:rPr dirty="0"/>
              <a:t>Education: Incorrect facts presented with high confidence spread misinformation to students</a:t>
            </a:r>
          </a:p>
          <a:p>
            <a:r>
              <a:rPr dirty="0"/>
              <a:t>Software Engineering: Code generation tools can produce plausible but buggy or insecure code</a:t>
            </a:r>
          </a:p>
          <a:p>
            <a:r>
              <a:rPr dirty="0"/>
              <a:t>Hallucination reduction is the #1 barrier to deploying LLMs reliably in production systems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C476EA-0E49-6541-BE5E-4D9CDA48CDD2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13B53-3C52-41FD-87EB-9108EC99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67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624C1200-80BB-1D4D-8DF7-28BFE7F023B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C3C349B-4585-3D43-8B4A-1B616575F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8650" y="1371601"/>
            <a:ext cx="7782639" cy="50292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Paper 1: Dang et al. (2025) </a:t>
            </a:r>
            <a:r>
              <a:rPr lang="en-US" sz="2000" b="1" dirty="0"/>
              <a:t>-</a:t>
            </a:r>
            <a:r>
              <a:rPr sz="2000" b="1" dirty="0"/>
              <a:t> Frontiers in Artificial Intelligence</a:t>
            </a:r>
            <a:endParaRPr lang="en-US" sz="2000" b="1" dirty="0"/>
          </a:p>
          <a:p>
            <a:r>
              <a:rPr lang="en-US" dirty="0"/>
              <a:t>	"Survey and Analysis of Hallucinations in LLMs: Attribution to Prompting Strategies or Model Behavior"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Paper 2: Bang et al. (2025) </a:t>
            </a:r>
            <a:r>
              <a:rPr lang="en-US" sz="2000" b="1" dirty="0"/>
              <a:t>-</a:t>
            </a:r>
            <a:r>
              <a:rPr sz="2000" b="1" dirty="0"/>
              <a:t> ACL 2025</a:t>
            </a:r>
          </a:p>
          <a:p>
            <a:r>
              <a:rPr lang="en-US" dirty="0"/>
              <a:t>	</a:t>
            </a:r>
            <a:r>
              <a:rPr dirty="0"/>
              <a:t>"</a:t>
            </a:r>
            <a:r>
              <a:rPr dirty="0" err="1"/>
              <a:t>HalluLens</a:t>
            </a:r>
            <a:r>
              <a:rPr dirty="0"/>
              <a:t>: LLM Hallucination Benchmark"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Paper 3: Song et al. (2024) </a:t>
            </a:r>
            <a:r>
              <a:rPr lang="en-US" sz="2000" b="1" dirty="0"/>
              <a:t>-</a:t>
            </a:r>
            <a:r>
              <a:rPr sz="2000" b="1" dirty="0"/>
              <a:t> EMNLP 2024</a:t>
            </a:r>
          </a:p>
          <a:p>
            <a:r>
              <a:rPr lang="en-US" dirty="0"/>
              <a:t>	</a:t>
            </a:r>
            <a:r>
              <a:rPr dirty="0"/>
              <a:t>"RAG-HAT: A Hallucination-Aware Tuning Pipeline for LLM in Retrieval-Augmented Generation"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85912-8FC9-4054-A0FC-DF8FEDA2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75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1A61DF-FFA6-4A49-9806-53C995A22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005" y="1046361"/>
            <a:ext cx="8588502" cy="178003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400" dirty="0"/>
              <a:t>Chain-of-thought (</a:t>
            </a:r>
            <a:r>
              <a:rPr lang="en-US" sz="1400" dirty="0" err="1"/>
              <a:t>CoT</a:t>
            </a:r>
            <a:r>
              <a:rPr lang="en-US" sz="1400" dirty="0"/>
              <a:t>) prompting significantly reduces hallucinations in prompt-sensitive models, but some models hallucinate regardless of prompt quality (Dang et al.)</a:t>
            </a:r>
          </a:p>
          <a:p>
            <a:r>
              <a:rPr lang="en-US" sz="1400" dirty="0"/>
              <a:t>Unified benchmarks like </a:t>
            </a:r>
            <a:r>
              <a:rPr lang="en-US" sz="1400" dirty="0" err="1"/>
              <a:t>HalluLens</a:t>
            </a:r>
            <a:r>
              <a:rPr lang="en-US" sz="1400" dirty="0"/>
              <a:t> are essential for measuring hallucination reduction effectiveness across different models (Bang et al.)</a:t>
            </a:r>
          </a:p>
          <a:p>
            <a:r>
              <a:rPr lang="en-US" sz="1400" dirty="0"/>
              <a:t>RAG-HAT's 3-stage pipeline (detect → correct → DPO fine-tune) achieves strong hallucination reduction rates (Song et al.)</a:t>
            </a:r>
          </a:p>
          <a:p>
            <a:r>
              <a:rPr lang="en-US" sz="1400" dirty="0"/>
              <a:t>Best results come from combining RAG + structured prompting + hallucination-aware fine-tuning</a:t>
            </a:r>
          </a:p>
        </p:txBody>
      </p:sp>
      <p:pic>
        <p:nvPicPr>
          <p:cNvPr id="16" name="Picture 15" descr="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44" y="2971800"/>
            <a:ext cx="5455024" cy="3409387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0743A-09CD-414F-8C62-1F7818E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E1D5BA9-E84C-B971-2AB9-E90249C2EBE4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LITERATURE REVIEW RESULTS</a:t>
            </a:r>
          </a:p>
        </p:txBody>
      </p:sp>
    </p:spTree>
    <p:extLst>
      <p:ext uri="{BB962C8B-B14F-4D97-AF65-F5344CB8AC3E}">
        <p14:creationId xmlns:p14="http://schemas.microsoft.com/office/powerpoint/2010/main" val="89969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4552A-8DC8-A441-9629-4D1DDAC44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0" y="1128713"/>
            <a:ext cx="7942659" cy="497808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Phase 1 </a:t>
            </a:r>
            <a:r>
              <a:rPr lang="en-US" sz="2000" b="1" dirty="0"/>
              <a:t>-</a:t>
            </a:r>
            <a:r>
              <a:rPr sz="2000" b="1" dirty="0"/>
              <a:t> Baseline Measurement:</a:t>
            </a:r>
            <a:endParaRPr lang="en-US" sz="2000" b="1" dirty="0"/>
          </a:p>
          <a:p>
            <a:r>
              <a:rPr lang="en-US" sz="2000" dirty="0"/>
              <a:t>	</a:t>
            </a:r>
            <a:r>
              <a:rPr sz="2000" dirty="0"/>
              <a:t>Measure hallucination rates for GPT-4, </a:t>
            </a:r>
            <a:r>
              <a:rPr sz="2000" dirty="0" err="1"/>
              <a:t>LLaMA</a:t>
            </a:r>
            <a:r>
              <a:rPr sz="2000" dirty="0"/>
              <a:t> 3, and Mistral using </a:t>
            </a:r>
            <a:r>
              <a:rPr sz="2000" dirty="0" err="1"/>
              <a:t>TruthfulQA</a:t>
            </a:r>
            <a:r>
              <a:rPr sz="2000" dirty="0"/>
              <a:t> benchmark as ground truth</a:t>
            </a:r>
          </a:p>
          <a:p>
            <a:endParaRPr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Phase 2 </a:t>
            </a:r>
            <a:r>
              <a:rPr lang="en-US" sz="2000" b="1" dirty="0"/>
              <a:t>-</a:t>
            </a:r>
            <a:r>
              <a:rPr sz="2000" b="1" dirty="0"/>
              <a:t> Prompt-Based Reduction:</a:t>
            </a:r>
          </a:p>
          <a:p>
            <a:r>
              <a:rPr lang="en-US" sz="2000" dirty="0"/>
              <a:t>	</a:t>
            </a:r>
            <a:r>
              <a:rPr sz="2000" dirty="0"/>
              <a:t>Implement chain-of-thought (</a:t>
            </a:r>
            <a:r>
              <a:rPr sz="2000" dirty="0" err="1"/>
              <a:t>CoT</a:t>
            </a:r>
            <a:r>
              <a:rPr sz="2000" dirty="0"/>
              <a:t>), self-consistency decoding, and few-shot prompting with verified examples; measure reduction vs. baseline</a:t>
            </a:r>
          </a:p>
          <a:p>
            <a:endParaRPr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b="1" dirty="0"/>
              <a:t>Phase 3 </a:t>
            </a:r>
            <a:r>
              <a:rPr lang="en-US" sz="2000" b="1" dirty="0"/>
              <a:t>-</a:t>
            </a:r>
            <a:r>
              <a:rPr sz="2000" b="1" dirty="0"/>
              <a:t> RAG-Based Reduction Pipeline:</a:t>
            </a:r>
          </a:p>
          <a:p>
            <a:r>
              <a:rPr lang="en-US" sz="2000" dirty="0"/>
              <a:t>	</a:t>
            </a:r>
            <a:r>
              <a:rPr sz="2000" dirty="0"/>
              <a:t>Build a RAG pipeline with </a:t>
            </a:r>
            <a:r>
              <a:rPr sz="2000" dirty="0" err="1"/>
              <a:t>LangChain</a:t>
            </a:r>
            <a:r>
              <a:rPr sz="2000" dirty="0"/>
              <a:t> + FAISS/</a:t>
            </a:r>
            <a:r>
              <a:rPr sz="2000" dirty="0" err="1"/>
              <a:t>ChromaDB</a:t>
            </a:r>
            <a:r>
              <a:rPr sz="2000" dirty="0"/>
              <a:t>, combine with the best prompting strategies from Phase 2, compare reduction rates across all conditions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F2A8B2-78A4-D64F-81E1-A72FF0360AB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ALGORITHM/APPROACH/METHODOLOGY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DB155-6487-4447-8843-7619D69D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97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2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97B39-8EEF-D54A-9ABB-EDB671323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271589"/>
            <a:ext cx="7871222" cy="483520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sz="2000" dirty="0"/>
              <a:t>Language: Python 3.10+</a:t>
            </a:r>
          </a:p>
          <a:p>
            <a:r>
              <a:rPr sz="2000" dirty="0"/>
              <a:t>LLM APIs: OpenAI API (GPT-4), Hugging Face Transformers (</a:t>
            </a:r>
            <a:r>
              <a:rPr sz="2000" dirty="0" err="1"/>
              <a:t>LLaMA</a:t>
            </a:r>
            <a:r>
              <a:rPr sz="2000" dirty="0"/>
              <a:t> 3, Mistral)</a:t>
            </a:r>
          </a:p>
          <a:p>
            <a:r>
              <a:rPr sz="2000" dirty="0"/>
              <a:t>RAG Framework: </a:t>
            </a:r>
            <a:r>
              <a:rPr sz="2000" dirty="0" err="1"/>
              <a:t>LangChain</a:t>
            </a:r>
            <a:r>
              <a:rPr sz="2000" dirty="0"/>
              <a:t> for orchestration, FAISS / </a:t>
            </a:r>
            <a:r>
              <a:rPr sz="2000" dirty="0" err="1"/>
              <a:t>ChromaDB</a:t>
            </a:r>
            <a:r>
              <a:rPr sz="2000" dirty="0"/>
              <a:t> for vector storage</a:t>
            </a:r>
          </a:p>
          <a:p>
            <a:r>
              <a:rPr sz="2000" dirty="0"/>
              <a:t>Embeddings: Sentence-Transformers for document embedding</a:t>
            </a:r>
          </a:p>
          <a:p>
            <a:r>
              <a:rPr sz="2000" dirty="0"/>
              <a:t>Evaluation: </a:t>
            </a:r>
            <a:r>
              <a:rPr sz="2000" dirty="0" err="1"/>
              <a:t>TruthfulQA</a:t>
            </a:r>
            <a:r>
              <a:rPr sz="2000" dirty="0"/>
              <a:t> benchmark, </a:t>
            </a:r>
            <a:r>
              <a:rPr sz="2000" dirty="0" err="1"/>
              <a:t>BERTScore</a:t>
            </a:r>
            <a:r>
              <a:rPr sz="2000" dirty="0"/>
              <a:t>, NLI models for faithfulness</a:t>
            </a:r>
          </a:p>
          <a:p>
            <a:r>
              <a:rPr sz="2000" dirty="0"/>
              <a:t>Data Processing: pandas, NumPy, scikit-learn</a:t>
            </a:r>
          </a:p>
          <a:p>
            <a:r>
              <a:rPr sz="2000" dirty="0"/>
              <a:t>Visualization: matplotlib, seaborn</a:t>
            </a:r>
          </a:p>
          <a:p>
            <a:r>
              <a:rPr sz="2000" dirty="0"/>
              <a:t>Environment: </a:t>
            </a:r>
            <a:r>
              <a:rPr sz="2000" dirty="0" err="1"/>
              <a:t>Jupyter</a:t>
            </a:r>
            <a:r>
              <a:rPr sz="2000" dirty="0"/>
              <a:t> Notebooks, Google </a:t>
            </a:r>
            <a:r>
              <a:rPr sz="2000" dirty="0" err="1"/>
              <a:t>Colab</a:t>
            </a:r>
            <a:r>
              <a:rPr sz="2000" dirty="0"/>
              <a:t> / local GPU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AF9F8F-9877-1243-BF92-74D8C3F1781F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UNDERSTANDING THE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B81F8-0768-4973-B1B1-77582F12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7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45" y="1131013"/>
            <a:ext cx="6825996" cy="3498322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64934-3DAE-4467-A3E5-D53DDB27F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672" y="4859395"/>
            <a:ext cx="7308342" cy="1496956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US" sz="1500" dirty="0"/>
              <a:t>Hallucination reduction rate comparison across 4 conditions: (a) Vanilla LLM, (b) + </a:t>
            </a:r>
            <a:r>
              <a:rPr lang="en-US" sz="1500" dirty="0" err="1"/>
              <a:t>CoT</a:t>
            </a:r>
            <a:r>
              <a:rPr lang="en-US" sz="1500" dirty="0"/>
              <a:t> Prompting, (c) + RAG, (d) RAG + </a:t>
            </a:r>
            <a:r>
              <a:rPr lang="en-US" sz="1500" dirty="0" err="1"/>
              <a:t>CoT</a:t>
            </a:r>
            <a:r>
              <a:rPr lang="en-US" sz="1500" dirty="0"/>
              <a:t> combined</a:t>
            </a:r>
          </a:p>
          <a:p>
            <a:r>
              <a:rPr lang="en-US" sz="1500" dirty="0"/>
              <a:t>Factual accuracy improvement measured via ROUGE and </a:t>
            </a:r>
            <a:r>
              <a:rPr lang="en-US" sz="1500" dirty="0" err="1"/>
              <a:t>BERTScore</a:t>
            </a:r>
            <a:r>
              <a:rPr lang="en-US" sz="1500" dirty="0"/>
              <a:t> against ground truth</a:t>
            </a:r>
          </a:p>
          <a:p>
            <a:r>
              <a:rPr lang="en-US" sz="1500" dirty="0"/>
              <a:t>Faithfulness score using NLI-based verification of RAG grounding</a:t>
            </a:r>
          </a:p>
          <a:p>
            <a:r>
              <a:rPr lang="en-US" sz="1500" dirty="0"/>
              <a:t>Human evaluation: manual review of 50–100 generated responses to validate automated metrics</a:t>
            </a:r>
          </a:p>
          <a:p>
            <a:r>
              <a:rPr lang="en-US" sz="1500" dirty="0"/>
              <a:t>Goal: identify which reduction strategy is most effective per model and use case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437EB-2167-4AA1-BF66-4E9103D7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825A77A-971A-3244-890F-3B99F774724A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9098E-5BEC-EE4C-91E9-41A1CB5F73B3}"/>
              </a:ext>
            </a:extLst>
          </p:cNvPr>
          <p:cNvSpPr txBox="1"/>
          <p:nvPr/>
        </p:nvSpPr>
        <p:spPr>
          <a:xfrm>
            <a:off x="3200401" y="2971800"/>
            <a:ext cx="184731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13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448F6-2A60-792A-729B-2DBA6C0F1611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OBTAINED RESULTS</a:t>
            </a:r>
          </a:p>
        </p:txBody>
      </p:sp>
    </p:spTree>
    <p:extLst>
      <p:ext uri="{BB962C8B-B14F-4D97-AF65-F5344CB8AC3E}">
        <p14:creationId xmlns:p14="http://schemas.microsoft.com/office/powerpoint/2010/main" val="29859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C75F-C6A1-F249-8911-735ED4C2D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43000"/>
            <a:ext cx="7886700" cy="5027394"/>
          </a:xfrm>
        </p:spPr>
        <p:txBody>
          <a:bodyPr>
            <a:normAutofit lnSpcReduction="10000"/>
          </a:bodyPr>
          <a:lstStyle/>
          <a:p>
            <a:r>
              <a:rPr dirty="0"/>
              <a:t>Hallucination reduction is critical for trustworthy LLM deployment in real-world applications</a:t>
            </a:r>
          </a:p>
          <a:p>
            <a:r>
              <a:rPr dirty="0"/>
              <a:t>RAG + structured prompting yields the strongest reduction in hallucination rates</a:t>
            </a:r>
          </a:p>
          <a:p>
            <a:r>
              <a:rPr dirty="0"/>
              <a:t>No single technique eliminates hallucinations entirely </a:t>
            </a:r>
            <a:r>
              <a:rPr lang="en-US" dirty="0"/>
              <a:t>-</a:t>
            </a:r>
            <a:r>
              <a:rPr dirty="0"/>
              <a:t> combining strategies is key</a:t>
            </a:r>
            <a:r>
              <a:rPr lang="en-US" dirty="0"/>
              <a:t>.</a:t>
            </a:r>
            <a:endParaRPr dirty="0"/>
          </a:p>
          <a:p>
            <a:r>
              <a:rPr dirty="0"/>
              <a:t>Incorporate DPO fine-tuning following the RAG-HAT approach</a:t>
            </a:r>
          </a:p>
          <a:p>
            <a:r>
              <a:rPr dirty="0"/>
              <a:t>Build domain-specific reduction pipelines for medical and legal applications</a:t>
            </a:r>
          </a:p>
          <a:p>
            <a:r>
              <a:rPr dirty="0"/>
              <a:t>Develop real-time hallucination detection for production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A7DF44-3DAB-B743-93F0-C6ABA765A070}"/>
              </a:ext>
            </a:extLst>
          </p:cNvPr>
          <p:cNvSpPr/>
          <p:nvPr/>
        </p:nvSpPr>
        <p:spPr>
          <a:xfrm>
            <a:off x="4094144" y="3278959"/>
            <a:ext cx="95571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1B7E36A-E709-2A49-87DB-0514E99099BA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CONCLUSION &amp; FUTURE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9D95AC-7C9F-4104-805C-0291CA50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5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4DDEF-9499-0848-9FF9-781097E13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08295"/>
            <a:ext cx="7886700" cy="4862099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Dang, A.-H., Vu, T., &amp; Nguyen, L.-M. (2025). Survey and analysis of hallucinations in large language models: Attribution to prompting strategies or model behavior. Frontiers in Artificial Intelligence, 8, 1622292.</a:t>
            </a:r>
          </a:p>
          <a:p>
            <a:endParaRPr dirty="0"/>
          </a:p>
          <a:p>
            <a:r>
              <a:rPr dirty="0"/>
              <a:t>Bang, Y., Ji, Z., </a:t>
            </a:r>
            <a:r>
              <a:rPr dirty="0" err="1"/>
              <a:t>Schelten</a:t>
            </a:r>
            <a:r>
              <a:rPr dirty="0"/>
              <a:t>, A., et al. (2025). </a:t>
            </a:r>
            <a:r>
              <a:rPr dirty="0" err="1"/>
              <a:t>HalluLens</a:t>
            </a:r>
            <a:r>
              <a:rPr dirty="0"/>
              <a:t>: LLM Hallucination Benchmark. Proceedings of ACL 2025.</a:t>
            </a:r>
          </a:p>
          <a:p>
            <a:endParaRPr dirty="0"/>
          </a:p>
          <a:p>
            <a:r>
              <a:rPr dirty="0"/>
              <a:t>Song, J., Wang, X., Zhu, J., et al. (2024). RAG-HAT: A Hallucination-Aware Tuning Pipeline for LLM in Retrieval-Augmented Generation. Proceedings of EMNLP 2024, pp. 1548–1558.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A7237B-41C8-C945-8A8B-F98542EAD940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30063"/>
            <a:ext cx="6536079" cy="870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08A80-5276-43A4-AB04-3C04926F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A93304-03D7-493E-92D6-38FC853D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5A77A-971A-3244-890F-3B99F774724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CFDDDB-0F2B-4CC6-8C8A-5C6670B6DE9E}"/>
              </a:ext>
            </a:extLst>
          </p:cNvPr>
          <p:cNvSpPr txBox="1">
            <a:spLocks/>
          </p:cNvSpPr>
          <p:nvPr/>
        </p:nvSpPr>
        <p:spPr>
          <a:xfrm>
            <a:off x="5688672" y="2552995"/>
            <a:ext cx="2911715" cy="16038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599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735</TotalTime>
  <Words>852</Words>
  <Application>Microsoft Macintosh PowerPoint</Application>
  <PresentationFormat>On-screen Show 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Sagar Vinod Gour</cp:lastModifiedBy>
  <cp:revision>61</cp:revision>
  <dcterms:created xsi:type="dcterms:W3CDTF">2020-12-17T21:21:33Z</dcterms:created>
  <dcterms:modified xsi:type="dcterms:W3CDTF">2026-03-02T01:20:57Z</dcterms:modified>
</cp:coreProperties>
</file>