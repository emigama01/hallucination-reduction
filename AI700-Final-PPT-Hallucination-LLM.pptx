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notesMasterIdLst>
    <p:notesMasterId r:id="rId14"/>
  </p:notesMasterIdLst>
  <p:sldIdLst>
    <p:sldId id="258" r:id="rId2"/>
    <p:sldId id="261" r:id="rId3"/>
    <p:sldId id="273" r:id="rId4"/>
    <p:sldId id="272" r:id="rId5"/>
    <p:sldId id="262" r:id="rId6"/>
    <p:sldId id="270" r:id="rId7"/>
    <p:sldId id="264" r:id="rId8"/>
    <p:sldId id="265" r:id="rId9"/>
    <p:sldId id="260" r:id="rId10"/>
    <p:sldId id="266" r:id="rId11"/>
    <p:sldId id="271" r:id="rId12"/>
    <p:sldId id="274" r:id="rId13"/>
  </p:sldIdLst>
  <p:sldSz cx="9144000" cy="6858000" type="screen4x3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72C"/>
    <a:srgbClr val="69B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29"/>
    <p:restoredTop sz="93333" autoAdjust="0"/>
  </p:normalViewPr>
  <p:slideViewPr>
    <p:cSldViewPr snapToGrid="0" snapToObjects="1">
      <p:cViewPr varScale="1">
        <p:scale>
          <a:sx n="122" d="100"/>
          <a:sy n="122" d="100"/>
        </p:scale>
        <p:origin x="9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da Nacif El Alaoui" userId="69746eab-fe43-459f-a36f-cd87144df17e" providerId="ADAL" clId="{FD23A653-43BC-42C3-AD44-0AA15F2914BA}"/>
    <pc:docChg chg="modSld">
      <pc:chgData name="Reda Nacif El Alaoui" userId="69746eab-fe43-459f-a36f-cd87144df17e" providerId="ADAL" clId="{FD23A653-43BC-42C3-AD44-0AA15F2914BA}" dt="2026-01-16T17:52:30.945" v="44" actId="20577"/>
      <pc:docMkLst>
        <pc:docMk/>
      </pc:docMkLst>
      <pc:sldChg chg="modSp mod">
        <pc:chgData name="Reda Nacif El Alaoui" userId="69746eab-fe43-459f-a36f-cd87144df17e" providerId="ADAL" clId="{FD23A653-43BC-42C3-AD44-0AA15F2914BA}" dt="2026-01-16T17:52:30.945" v="44" actId="20577"/>
        <pc:sldMkLst>
          <pc:docMk/>
          <pc:sldMk cId="3237590156" sldId="258"/>
        </pc:sldMkLst>
        <pc:spChg chg="mod">
          <ac:chgData name="Reda Nacif El Alaoui" userId="69746eab-fe43-459f-a36f-cd87144df17e" providerId="ADAL" clId="{FD23A653-43BC-42C3-AD44-0AA15F2914BA}" dt="2026-01-16T17:52:30.945" v="44" actId="20577"/>
          <ac:spMkLst>
            <pc:docMk/>
            <pc:sldMk cId="3237590156" sldId="258"/>
            <ac:spMk id="9" creationId="{A2163CFA-8E03-DC47-AB89-020E49AEA15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4782C7-A981-DA49-9F80-7A4E75405182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412654-83C3-6247-B37B-7386861A2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143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C60DCD-A1EE-D04E-A050-0D41A7407592}"/>
              </a:ext>
            </a:extLst>
          </p:cNvPr>
          <p:cNvSpPr/>
          <p:nvPr userDrawn="1"/>
        </p:nvSpPr>
        <p:spPr>
          <a:xfrm>
            <a:off x="0" y="0"/>
            <a:ext cx="9144000" cy="2743200"/>
          </a:xfrm>
          <a:prstGeom prst="rect">
            <a:avLst/>
          </a:prstGeom>
          <a:solidFill>
            <a:srgbClr val="69B3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28DFAC-6C93-D941-AD4C-56B7F38F7E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6236468" y="-171450"/>
            <a:ext cx="3076696" cy="30766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56F2F19-5F1F-9540-9B80-03841B943248}"/>
              </a:ext>
            </a:extLst>
          </p:cNvPr>
          <p:cNvSpPr/>
          <p:nvPr userDrawn="1"/>
        </p:nvSpPr>
        <p:spPr>
          <a:xfrm>
            <a:off x="0" y="2651760"/>
            <a:ext cx="9144000" cy="91440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006448-8A20-764C-A113-1826193078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72150" y="6176068"/>
            <a:ext cx="2743200" cy="24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7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233169"/>
            <a:ext cx="78867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693670"/>
            <a:ext cx="3886200" cy="347672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693670"/>
            <a:ext cx="3886200" cy="347672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25A77A-971A-3244-890F-3B99F774724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F4AE9C-67F5-1A41-89B0-DEEE29CEB63B}"/>
              </a:ext>
            </a:extLst>
          </p:cNvPr>
          <p:cNvSpPr/>
          <p:nvPr userDrawn="1"/>
        </p:nvSpPr>
        <p:spPr>
          <a:xfrm>
            <a:off x="0" y="-1"/>
            <a:ext cx="9144000" cy="914401"/>
          </a:xfrm>
          <a:prstGeom prst="rect">
            <a:avLst/>
          </a:prstGeom>
          <a:solidFill>
            <a:srgbClr val="69B3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E368CC-3F6A-894C-9234-DC83E799A195}"/>
              </a:ext>
            </a:extLst>
          </p:cNvPr>
          <p:cNvSpPr/>
          <p:nvPr userDrawn="1"/>
        </p:nvSpPr>
        <p:spPr>
          <a:xfrm>
            <a:off x="0" y="6675120"/>
            <a:ext cx="9144000" cy="182880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672DBF6-0DAC-E148-9CD9-C668F894CB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47355" y="322584"/>
            <a:ext cx="667996" cy="2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357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233169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233170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992293"/>
            <a:ext cx="2949178" cy="3114503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43BBDD-4F51-5942-AA98-E7E60DD246B8}"/>
              </a:ext>
            </a:extLst>
          </p:cNvPr>
          <p:cNvSpPr/>
          <p:nvPr userDrawn="1"/>
        </p:nvSpPr>
        <p:spPr>
          <a:xfrm>
            <a:off x="0" y="-1"/>
            <a:ext cx="9144000" cy="914401"/>
          </a:xfrm>
          <a:prstGeom prst="rect">
            <a:avLst/>
          </a:prstGeom>
          <a:solidFill>
            <a:srgbClr val="69B3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12223B-7DCB-0A48-A51E-8DF64C6AB09A}"/>
              </a:ext>
            </a:extLst>
          </p:cNvPr>
          <p:cNvSpPr/>
          <p:nvPr userDrawn="1"/>
        </p:nvSpPr>
        <p:spPr>
          <a:xfrm>
            <a:off x="0" y="6675120"/>
            <a:ext cx="9144000" cy="182880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FA19B8AF-179C-6A40-9FCF-C1F83ADFC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25A77A-971A-3244-890F-3B99F774724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087DC1-D29E-C342-8A11-CCD0B4FE6B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47355" y="322584"/>
            <a:ext cx="667996" cy="2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9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D56338-8C42-5A4C-B15A-5E6D618BF4F2}"/>
              </a:ext>
            </a:extLst>
          </p:cNvPr>
          <p:cNvSpPr/>
          <p:nvPr userDrawn="1"/>
        </p:nvSpPr>
        <p:spPr>
          <a:xfrm>
            <a:off x="0" y="-1"/>
            <a:ext cx="9144000" cy="914401"/>
          </a:xfrm>
          <a:prstGeom prst="rect">
            <a:avLst/>
          </a:prstGeom>
          <a:solidFill>
            <a:srgbClr val="69B3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4F877C-2745-294D-A776-CA518D80DE0A}"/>
              </a:ext>
            </a:extLst>
          </p:cNvPr>
          <p:cNvSpPr/>
          <p:nvPr userDrawn="1"/>
        </p:nvSpPr>
        <p:spPr>
          <a:xfrm>
            <a:off x="0" y="6675120"/>
            <a:ext cx="9144000" cy="182880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0B38AD8-F3C5-7940-BF85-B96BF38E0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25A77A-971A-3244-890F-3B99F774724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FA62369-8A22-664A-A57A-10CC43BAE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233169"/>
            <a:ext cx="78867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FA4AFD9-2B8B-FE40-A4BC-0A4258AA84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2693670"/>
            <a:ext cx="7886700" cy="3476724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CD807D-CF7D-A84C-AABB-8EB38292CA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47355" y="322584"/>
            <a:ext cx="667996" cy="2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242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95645F-D1FD-AB49-94B6-E1A0A46E6E38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9B3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FC020F-74CE-744F-B417-D101F5F860F7}"/>
              </a:ext>
            </a:extLst>
          </p:cNvPr>
          <p:cNvSpPr/>
          <p:nvPr userDrawn="1"/>
        </p:nvSpPr>
        <p:spPr>
          <a:xfrm>
            <a:off x="0" y="6675120"/>
            <a:ext cx="9144000" cy="182880"/>
          </a:xfrm>
          <a:prstGeom prst="rect">
            <a:avLst/>
          </a:prstGeom>
          <a:solidFill>
            <a:srgbClr val="FFC7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79FC38-93A5-254A-9580-ADF945DCA1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47355" y="322584"/>
            <a:ext cx="667996" cy="2692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A57B61-6E93-3E4B-B366-DD651B8AFFD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-685800" y="-685800"/>
            <a:ext cx="6175094" cy="617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25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5A77A-971A-3244-890F-3B99F77472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258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7" r:id="rId3"/>
    <p:sldLayoutId id="2147483660" r:id="rId4"/>
    <p:sldLayoutId id="2147483665" r:id="rId5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6E06235-B4A9-1445-B4B0-799FEB40F49A}"/>
              </a:ext>
            </a:extLst>
          </p:cNvPr>
          <p:cNvSpPr txBox="1">
            <a:spLocks noChangeArrowheads="1"/>
          </p:cNvSpPr>
          <p:nvPr/>
        </p:nvSpPr>
        <p:spPr>
          <a:xfrm>
            <a:off x="515582" y="646770"/>
            <a:ext cx="6049701" cy="9144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800" b="1" dirty="0"/>
              <a:t>Hallucination Reduction in Large Language Models</a:t>
            </a:r>
            <a:endParaRPr lang="en-US" altLang="en-US" b="1" dirty="0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r>
              <a:rPr sz="2400" dirty="0"/>
              <a:t>A Comparative Study of Prompt Engineering and RAG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614B48C-432E-4046-9F84-C6EB95379FC1}"/>
              </a:ext>
            </a:extLst>
          </p:cNvPr>
          <p:cNvSpPr txBox="1">
            <a:spLocks noChangeArrowheads="1"/>
          </p:cNvSpPr>
          <p:nvPr/>
        </p:nvSpPr>
        <p:spPr>
          <a:xfrm>
            <a:off x="756214" y="3324755"/>
            <a:ext cx="6623825" cy="1972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63CFA-8E03-DC47-AB89-020E49AEA157}"/>
              </a:ext>
            </a:extLst>
          </p:cNvPr>
          <p:cNvSpPr txBox="1"/>
          <p:nvPr/>
        </p:nvSpPr>
        <p:spPr>
          <a:xfrm>
            <a:off x="337191" y="5795731"/>
            <a:ext cx="39720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600" dirty="0"/>
              <a:t>By: Emilio Garcia Martinez (ID: 100783029)</a:t>
            </a:r>
          </a:p>
          <a:p>
            <a:r>
              <a:rPr sz="1600" dirty="0"/>
              <a:t>Course: AI700-001 | Prof. Reda </a:t>
            </a:r>
            <a:r>
              <a:rPr sz="1600" dirty="0" err="1"/>
              <a:t>Nacif</a:t>
            </a:r>
            <a:r>
              <a:rPr sz="1600" dirty="0"/>
              <a:t> Elalaoui</a:t>
            </a:r>
          </a:p>
          <a:p>
            <a:r>
              <a:rPr sz="1600" dirty="0"/>
              <a:t>Date: May 2026 | Spring 2026</a:t>
            </a:r>
          </a:p>
        </p:txBody>
      </p:sp>
      <p:pic>
        <p:nvPicPr>
          <p:cNvPr id="10" name="Picture 9" descr="accuracy_with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558" y="3156630"/>
            <a:ext cx="5481315" cy="230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90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BCF1-984E-8948-950A-5CD9598359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122947"/>
            <a:ext cx="7886700" cy="5047447"/>
          </a:xfrm>
        </p:spPr>
        <p:txBody>
          <a:bodyPr wrap="square"/>
          <a:lstStyle/>
          <a:p>
            <a:pPr marL="0" indent="0">
              <a:buNone/>
            </a:pPr>
            <a:r>
              <a:rPr sz="2000"/>
              <a:t>1. Introduction &amp; Motivation</a:t>
            </a:r>
            <a:endParaRPr lang="en-US" dirty="0"/>
          </a:p>
          <a:p>
            <a:r>
              <a:rPr sz="2000"/>
              <a:t>2. Application &amp; Real-World Importance</a:t>
            </a:r>
          </a:p>
          <a:p>
            <a:r>
              <a:rPr sz="2000"/>
              <a:t>3. Literature Review</a:t>
            </a:r>
          </a:p>
          <a:p>
            <a:r>
              <a:rPr sz="2000"/>
              <a:t>4. Literature Review Results</a:t>
            </a:r>
          </a:p>
          <a:p>
            <a:r>
              <a:rPr sz="2000"/>
              <a:t>5. Methodology — Pipeline &amp; Methods</a:t>
            </a:r>
          </a:p>
          <a:p>
            <a:r>
              <a:rPr sz="2000"/>
              <a:t>6. Understanding the Functions (Metrics)</a:t>
            </a:r>
          </a:p>
          <a:p>
            <a:r>
              <a:rPr sz="2000"/>
              <a:t>7. Obtained Results &amp; Statistical Analysis</a:t>
            </a:r>
          </a:p>
          <a:p>
            <a:r>
              <a:rPr sz="2000"/>
              <a:t>8. Conclusion &amp; Future Work</a:t>
            </a:r>
          </a:p>
          <a:p>
            <a:r>
              <a:rPr sz="2000"/>
              <a:t>9. References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9684B8B-43FC-324A-B112-F515B802157A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Outlines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C8CBDB-C241-4C9B-9B12-C17CD5A47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918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BCF1-984E-8948-950A-5CD9598359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122947"/>
            <a:ext cx="7886700" cy="5047447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dirty="0"/>
              <a:t>Hallucination: LLMs generating fluent but factually incorrect text.</a:t>
            </a:r>
          </a:p>
          <a:p>
            <a:r>
              <a:rPr dirty="0"/>
              <a:t>Persistent failure mode in </a:t>
            </a:r>
            <a:r>
              <a:rPr dirty="0" err="1"/>
              <a:t>LLaMA</a:t>
            </a:r>
            <a:r>
              <a:rPr dirty="0"/>
              <a:t>, GPT, Claude — high-stakes risk in medicine, law, education.</a:t>
            </a:r>
          </a:p>
          <a:p>
            <a:r>
              <a:rPr dirty="0"/>
              <a:t>Goal: compare six mitigation techniques on </a:t>
            </a:r>
            <a:r>
              <a:rPr dirty="0" err="1"/>
              <a:t>LLaMA</a:t>
            </a:r>
            <a:r>
              <a:rPr dirty="0"/>
              <a:t> 3.2 (3B) under one protocol.</a:t>
            </a:r>
          </a:p>
          <a:p>
            <a:r>
              <a:rPr dirty="0"/>
              <a:t>Six methods: Baseline, Chain-of-Thought, Few-Shot, Self-Consistency, RAG, RAG + Optimized.</a:t>
            </a:r>
          </a:p>
          <a:p>
            <a:r>
              <a:rPr dirty="0"/>
              <a:t>Evaluation: 30-question </a:t>
            </a:r>
            <a:r>
              <a:rPr dirty="0" err="1"/>
              <a:t>TruthfulQA</a:t>
            </a:r>
            <a:r>
              <a:rPr dirty="0"/>
              <a:t> subset, automated metrics, bootstrap statistics.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9684B8B-43FC-324A-B112-F515B802157A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608BD0-994E-4EA0-A0B0-4FC8DE301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884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EE83A-6C8C-7541-9538-BD4C0FC9B8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195754"/>
            <a:ext cx="7886700" cy="4974640"/>
          </a:xfrm>
        </p:spPr>
        <p:txBody>
          <a:bodyPr wrap="square">
            <a:normAutofit/>
          </a:bodyPr>
          <a:lstStyle/>
          <a:p>
            <a:r>
              <a:rPr dirty="0"/>
              <a:t>Healthcare assistants — wrong dosage / drug-interaction advice can harm patients.</a:t>
            </a:r>
          </a:p>
          <a:p>
            <a:r>
              <a:rPr dirty="0"/>
              <a:t>Legal &amp; finance copilots — fabricated case law or numbers create liability.</a:t>
            </a:r>
          </a:p>
          <a:p>
            <a:r>
              <a:rPr dirty="0"/>
              <a:t>Educational tutors — myth reinforcement in History / Science misinforms students.</a:t>
            </a:r>
          </a:p>
          <a:p>
            <a:r>
              <a:rPr dirty="0"/>
              <a:t>Customer support automation — confidently wrong answers erode trust.</a:t>
            </a:r>
          </a:p>
          <a:p>
            <a:r>
              <a:rPr dirty="0"/>
              <a:t>Reducing hallucination is foundational to deploying LLMs in any production setting.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3C476EA-0E49-6541-BE5E-4D9CDA48CDD2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APPLICATION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F13B53-3C52-41FD-87EB-9108EC992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767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624C1200-80BB-1D4D-8DF7-28BFE7F023B4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LITERATURE REVIEW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C3C349B-4585-3D43-8B4A-1B616575FF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8650" y="1114052"/>
            <a:ext cx="7782639" cy="5029200"/>
          </a:xfrm>
        </p:spPr>
        <p:txBody>
          <a:bodyPr wrap="square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2400" dirty="0"/>
              <a:t>Dang et al. (2025): survey &amp; taxonomy of LLM hallucinations [1].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2400" dirty="0"/>
              <a:t>Bang et al. (2025): </a:t>
            </a:r>
            <a:r>
              <a:rPr sz="2400" dirty="0" err="1"/>
              <a:t>HalluLens</a:t>
            </a:r>
            <a:r>
              <a:rPr sz="2400" dirty="0"/>
              <a:t> benchmark for systematic evaluation [2].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2400" dirty="0"/>
              <a:t>Wang et al. (2023): Self-Consistency boosts </a:t>
            </a:r>
            <a:r>
              <a:rPr sz="2400" dirty="0" err="1"/>
              <a:t>CoT</a:t>
            </a:r>
            <a:r>
              <a:rPr sz="2400" dirty="0"/>
              <a:t> reasoning [3].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2400" dirty="0"/>
              <a:t>Song et al. (2024): RAG-HAT — hallucination-aware tuning for RAG [4].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2400" dirty="0"/>
              <a:t>Lin et al. (2022): </a:t>
            </a:r>
            <a:r>
              <a:rPr sz="2400" dirty="0" err="1"/>
              <a:t>TruthfulQA</a:t>
            </a:r>
            <a:r>
              <a:rPr sz="2400" dirty="0"/>
              <a:t> targets imitative falsehoods [5].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2400" dirty="0"/>
              <a:t>Lewis et al. (2020): Retrieval-Augmented Generation framework [7].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2400" dirty="0"/>
              <a:t>Wei et al. (2022): Chain-of-Thought prompting elicits reasoning [8].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885912-8FC9-4054-A0FC-DF8FEDA22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075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50743A-09CD-414F-8C62-1F7818E59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A61DF-FFA6-4A49-9806-53C995A226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124607"/>
            <a:ext cx="7886700" cy="4909153"/>
          </a:xfrm>
        </p:spPr>
        <p:txBody>
          <a:bodyPr wrap="square">
            <a:noAutofit/>
          </a:bodyPr>
          <a:lstStyle/>
          <a:p>
            <a:r>
              <a:rPr dirty="0"/>
              <a:t>RAG and verification methods consistently outperform pure prompt engineering on factual tasks.</a:t>
            </a:r>
            <a:endParaRPr lang="en-US" dirty="0"/>
          </a:p>
          <a:p>
            <a:r>
              <a:rPr dirty="0"/>
              <a:t>Self-Consistency's value depends on cost tolerance — 3+ inference passes per query.</a:t>
            </a:r>
          </a:p>
          <a:p>
            <a:r>
              <a:rPr dirty="0" err="1"/>
              <a:t>CoT</a:t>
            </a:r>
            <a:r>
              <a:rPr dirty="0"/>
              <a:t> benefits scale with model size; small models (≤7B) often see marginal or negative gains.</a:t>
            </a:r>
          </a:p>
          <a:p>
            <a:r>
              <a:rPr dirty="0"/>
              <a:t>Open evaluation gap: few studies report paired statistical tests on small open-weight models running locally.</a:t>
            </a:r>
          </a:p>
          <a:p>
            <a:r>
              <a:rPr dirty="0"/>
              <a:t>This work contributes a fully reproducible local pipeline with bootstrap CIs and error-type analysis.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D9098E-5BEC-EE4C-91E9-41A1CB5F73B3}"/>
              </a:ext>
            </a:extLst>
          </p:cNvPr>
          <p:cNvSpPr txBox="1"/>
          <p:nvPr/>
        </p:nvSpPr>
        <p:spPr>
          <a:xfrm>
            <a:off x="3200401" y="2971800"/>
            <a:ext cx="184731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013" dirty="0"/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5A592D5E-3BD8-EC4C-BD33-D0A1D81B4F74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LITERATURE REVIEW RESULTS</a:t>
            </a:r>
          </a:p>
        </p:txBody>
      </p:sp>
    </p:spTree>
    <p:extLst>
      <p:ext uri="{BB962C8B-B14F-4D97-AF65-F5344CB8AC3E}">
        <p14:creationId xmlns:p14="http://schemas.microsoft.com/office/powerpoint/2010/main" val="899697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24552A-8DC8-A441-9629-4D1DDAC44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0" y="1128713"/>
            <a:ext cx="7942659" cy="4978083"/>
          </a:xfrm>
        </p:spPr>
        <p:txBody>
          <a:bodyPr wrap="square"/>
          <a:lstStyle/>
          <a:p>
            <a:r>
              <a:rPr sz="1400"/>
              <a:t>Model: LLaMA 3.2 (3B) via Ollama on Apple M1 (8 GB RAM).</a:t>
            </a:r>
            <a:endParaRPr lang="en-US" dirty="0"/>
          </a:p>
          <a:p>
            <a:r>
              <a:rPr sz="1400"/>
              <a:t>Dataset: 30 TruthfulQA-inspired questions across 5 categories.</a:t>
            </a:r>
          </a:p>
          <a:p>
            <a:r>
              <a:rPr sz="1400"/>
              <a:t>Six methods: Baseline, CoT, Few-Shot, Self-Consistency, RAG, RAG+Opt.</a:t>
            </a:r>
          </a:p>
          <a:p>
            <a:r>
              <a:rPr sz="1400"/>
              <a:t>RAG knowledge base: 27 chunks in ChromaDB; top-3 retrieval.</a:t>
            </a:r>
          </a:p>
          <a:p>
            <a:r>
              <a:rPr sz="1400"/>
              <a:t>Evaluation: factual accuracy, ROUGE-L, hallucination rate.</a:t>
            </a:r>
          </a:p>
          <a:p>
            <a:r>
              <a:rPr sz="1400"/>
              <a:t>Statistics: 10k bootstrap CIs and paired bootstrap vs baseline.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7F2A8B2-78A4-D64F-81E1-A72FF0360AB0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ALGORITHM/APPROACH/METHODOLOGY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BDB155-6487-4447-8843-7619D69D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7" name="Picture 6" descr="rada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1" y="1008993"/>
            <a:ext cx="7885509" cy="534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020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897B39-8EEF-D54A-9ABB-EDB671323E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271589"/>
            <a:ext cx="7871222" cy="4835208"/>
          </a:xfrm>
        </p:spPr>
        <p:txBody>
          <a:bodyPr wrap="square">
            <a:normAutofit/>
          </a:bodyPr>
          <a:lstStyle/>
          <a:p>
            <a:r>
              <a:rPr sz="2800" dirty="0"/>
              <a:t>Hallucination Rate: 1 if response overlaps known-incorrect more than correct answer.</a:t>
            </a:r>
          </a:p>
          <a:p>
            <a:r>
              <a:rPr sz="2800" dirty="0"/>
              <a:t>ROUGE-L: longest common subsequence overlap between response and ground truth.</a:t>
            </a:r>
          </a:p>
          <a:p>
            <a:r>
              <a:rPr sz="2800" dirty="0"/>
              <a:t>Factual Accuracy = 0.6 × keyword recall + 0.4 × ROUGE-L (rewards salient facts under paraphrase).</a:t>
            </a:r>
          </a:p>
          <a:p>
            <a:r>
              <a:rPr sz="2800" dirty="0"/>
              <a:t>Bootstrap 95% CI: 10,000 resamples per method.</a:t>
            </a:r>
          </a:p>
          <a:p>
            <a:r>
              <a:rPr sz="2800" dirty="0"/>
              <a:t>Paired bootstrap test: per-question </a:t>
            </a:r>
            <a:r>
              <a:rPr sz="2800" dirty="0" err="1"/>
              <a:t>Δ</a:t>
            </a:r>
            <a:r>
              <a:rPr sz="2800" dirty="0"/>
              <a:t> vs baseline; two-sided p from sign-flip fraction.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AAF9F8F-9877-1243-BF92-74D8C3F1781F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UNDERSTANDING THE FUNCTIONS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B81F8-0768-4973-B1B1-77582F122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979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D9098E-5BEC-EE4C-91E9-41A1CB5F73B3}"/>
              </a:ext>
            </a:extLst>
          </p:cNvPr>
          <p:cNvSpPr txBox="1"/>
          <p:nvPr/>
        </p:nvSpPr>
        <p:spPr>
          <a:xfrm>
            <a:off x="3200401" y="2971800"/>
            <a:ext cx="184731" cy="248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013" dirty="0"/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66207839-FAB5-C647-B752-1E110BE99279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OBTAINED RESULTS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8437EB-2167-4AA1-BF66-4E9103D7B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464934-3DAE-4467-A3E5-D53DDB27F6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112245"/>
            <a:ext cx="7886700" cy="3476724"/>
          </a:xfrm>
        </p:spPr>
        <p:txBody>
          <a:bodyPr wrap="square"/>
          <a:lstStyle/>
          <a:p>
            <a:r>
              <a:rPr sz="1400" dirty="0"/>
              <a:t>Best method: RAG + Optimized (factual accuracy 0.556, +43.3% over baseline).</a:t>
            </a:r>
            <a:endParaRPr lang="en-US" dirty="0"/>
          </a:p>
          <a:p>
            <a:r>
              <a:rPr sz="1400" dirty="0"/>
              <a:t>RAG + Optimized:  0.556 [0.489, 0.624]   (+0.168 vs baseline, p = 0.001)</a:t>
            </a:r>
          </a:p>
          <a:p>
            <a:r>
              <a:rPr sz="1400" dirty="0"/>
              <a:t>RAG:                 0.510 [0.417, 0.605]   (+0.121, p = 0.031)</a:t>
            </a:r>
          </a:p>
          <a:p>
            <a:r>
              <a:rPr sz="1400" dirty="0"/>
              <a:t>Self-Consistency: 0.448 [0.385, 0.514]   (+0.060, p = 0.034)</a:t>
            </a:r>
          </a:p>
          <a:p>
            <a:r>
              <a:rPr sz="1400" dirty="0"/>
              <a:t>Few-Shot:           0.460 [0.394, 0.527]   (+0.072, p = 0.125, </a:t>
            </a:r>
            <a:r>
              <a:rPr sz="1400" dirty="0" err="1"/>
              <a:t>n.s</a:t>
            </a:r>
            <a:r>
              <a:rPr sz="1400" dirty="0"/>
              <a:t>.)</a:t>
            </a:r>
          </a:p>
          <a:p>
            <a:r>
              <a:rPr sz="1400" dirty="0"/>
              <a:t>Chain-of-Thought: 0.346 [0.292, 0.408]   (-0.042, p = 0.340, </a:t>
            </a:r>
            <a:r>
              <a:rPr sz="1400" dirty="0" err="1"/>
              <a:t>n.s</a:t>
            </a:r>
            <a:r>
              <a:rPr sz="1400" dirty="0"/>
              <a:t>.)</a:t>
            </a:r>
          </a:p>
          <a:p>
            <a:r>
              <a:rPr sz="1400" dirty="0"/>
              <a:t>Baseline:           0.388 [0.313, 0.468]</a:t>
            </a:r>
          </a:p>
          <a:p>
            <a:r>
              <a:rPr sz="1400" dirty="0"/>
              <a:t>Error analysis: residual failures dominated by partial-truth, not full fabrication.</a:t>
            </a:r>
          </a:p>
        </p:txBody>
      </p:sp>
      <p:pic>
        <p:nvPicPr>
          <p:cNvPr id="15" name="Picture 14" descr="accuracy_with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3637992"/>
            <a:ext cx="5029200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942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1C75F-C6A1-F249-8911-735ED4C2D2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143000"/>
            <a:ext cx="7886700" cy="5027394"/>
          </a:xfrm>
        </p:spPr>
        <p:txBody>
          <a:bodyPr wrap="square">
            <a:noAutofit/>
          </a:bodyPr>
          <a:lstStyle/>
          <a:p>
            <a:r>
              <a:rPr sz="2400" dirty="0"/>
              <a:t>RAG + Optimized prompting is the most reliable hallucination mitigation on </a:t>
            </a:r>
            <a:r>
              <a:rPr sz="2400" dirty="0" err="1"/>
              <a:t>LLaMA</a:t>
            </a:r>
            <a:r>
              <a:rPr sz="2400" dirty="0"/>
              <a:t> 3.2 (3B).</a:t>
            </a:r>
          </a:p>
          <a:p>
            <a:r>
              <a:rPr sz="2400" dirty="0"/>
              <a:t>RAG and Self-Consistency also produce statistically significant gains.</a:t>
            </a:r>
          </a:p>
          <a:p>
            <a:r>
              <a:rPr sz="2400" dirty="0"/>
              <a:t>Chain-of-Thought is not effective at this model size — confirms scale-dependence findings.</a:t>
            </a:r>
          </a:p>
          <a:p>
            <a:r>
              <a:rPr sz="2400" dirty="0"/>
              <a:t>Residual errors are mostly partial-truth — model surfaces the topic but fails to commit to the verified fact.</a:t>
            </a:r>
          </a:p>
          <a:p>
            <a:r>
              <a:rPr sz="2400" dirty="0"/>
              <a:t>Future work: factual-entailment verification, hallucination-aware fine-tuning [4], and larger-model replication.</a:t>
            </a:r>
          </a:p>
          <a:p>
            <a:r>
              <a:rPr sz="2400" dirty="0"/>
              <a:t>Public release: full pipeline + dataset + results on GitHub for reproducibility.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A7DF44-3DAB-B743-93F0-C6ABA765A070}"/>
              </a:ext>
            </a:extLst>
          </p:cNvPr>
          <p:cNvSpPr/>
          <p:nvPr/>
        </p:nvSpPr>
        <p:spPr>
          <a:xfrm>
            <a:off x="4094144" y="3278959"/>
            <a:ext cx="955711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Conclusion</a:t>
            </a:r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1B7E36A-E709-2A49-87DB-0514E99099BA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CONCLUSION &amp; FUTURE WORK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9D95AC-7C9F-4104-805C-0291CA50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075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4DDEF-9499-0848-9FF9-781097E13E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077067"/>
            <a:ext cx="7886700" cy="4862099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sz="2400" dirty="0"/>
              <a:t>[1] Dang, Vu, Nguyen. "Survey on hallucinations in LLMs." Frontiers in AI, 2025.</a:t>
            </a:r>
          </a:p>
          <a:p>
            <a:pPr marL="0" indent="0">
              <a:buNone/>
            </a:pPr>
            <a:r>
              <a:rPr sz="2400" dirty="0"/>
              <a:t>[2] Bang et al. "</a:t>
            </a:r>
            <a:r>
              <a:rPr sz="2400" dirty="0" err="1"/>
              <a:t>HalluLens</a:t>
            </a:r>
            <a:r>
              <a:rPr sz="2400" dirty="0"/>
              <a:t> benchmark." ACL 2025.</a:t>
            </a:r>
          </a:p>
          <a:p>
            <a:pPr marL="0" indent="0">
              <a:buNone/>
            </a:pPr>
            <a:r>
              <a:rPr sz="2400" dirty="0"/>
              <a:t>[3] Wang et al. "Self-Consistency improves </a:t>
            </a:r>
            <a:r>
              <a:rPr sz="2400" dirty="0" err="1"/>
              <a:t>CoT</a:t>
            </a:r>
            <a:r>
              <a:rPr sz="2400" dirty="0"/>
              <a:t>." ICLR 2023.</a:t>
            </a:r>
          </a:p>
          <a:p>
            <a:pPr marL="0" indent="0">
              <a:buNone/>
            </a:pPr>
            <a:r>
              <a:rPr sz="2400" dirty="0"/>
              <a:t>[4] Song et al. "RAG-HAT." EMNLP 2024.</a:t>
            </a:r>
          </a:p>
          <a:p>
            <a:pPr marL="0" indent="0">
              <a:buNone/>
            </a:pPr>
            <a:r>
              <a:rPr sz="2400" dirty="0"/>
              <a:t>[5] Lin, Hilton, Evans. "</a:t>
            </a:r>
            <a:r>
              <a:rPr sz="2400" dirty="0" err="1"/>
              <a:t>TruthfulQA</a:t>
            </a:r>
            <a:r>
              <a:rPr sz="2400" dirty="0"/>
              <a:t>." ACL 2022.</a:t>
            </a:r>
          </a:p>
          <a:p>
            <a:pPr marL="0" indent="0">
              <a:buNone/>
            </a:pPr>
            <a:r>
              <a:rPr sz="2400" dirty="0"/>
              <a:t>[6] Lin. "ROUGE." 2004.</a:t>
            </a:r>
          </a:p>
          <a:p>
            <a:pPr marL="0" indent="0">
              <a:buNone/>
            </a:pPr>
            <a:r>
              <a:rPr sz="2400" dirty="0"/>
              <a:t>[7] Lewis et al. "Retrieval-Augmented Generation." </a:t>
            </a:r>
            <a:r>
              <a:rPr sz="2400" dirty="0" err="1"/>
              <a:t>NeurIPS</a:t>
            </a:r>
            <a:r>
              <a:rPr sz="2400" dirty="0"/>
              <a:t> 2020.</a:t>
            </a:r>
          </a:p>
          <a:p>
            <a:pPr marL="0" indent="0">
              <a:buNone/>
            </a:pPr>
            <a:r>
              <a:rPr sz="2400" dirty="0"/>
              <a:t>[8] Wei et al. "Chain-of-Thought prompting." </a:t>
            </a:r>
            <a:r>
              <a:rPr sz="2400" dirty="0" err="1"/>
              <a:t>NeurIPS</a:t>
            </a:r>
            <a:r>
              <a:rPr sz="2400" dirty="0"/>
              <a:t> 2022.</a:t>
            </a:r>
          </a:p>
          <a:p>
            <a:pPr marL="0" indent="0">
              <a:buNone/>
            </a:pPr>
            <a:r>
              <a:rPr sz="2400" dirty="0"/>
              <a:t>[9] </a:t>
            </a:r>
            <a:r>
              <a:rPr sz="2400" dirty="0" err="1"/>
              <a:t>AI@Meta</a:t>
            </a:r>
            <a:r>
              <a:rPr sz="2400" dirty="0"/>
              <a:t>. "</a:t>
            </a:r>
            <a:r>
              <a:rPr sz="2400" dirty="0" err="1"/>
              <a:t>LLaMA</a:t>
            </a:r>
            <a:r>
              <a:rPr sz="2400" dirty="0"/>
              <a:t> 3.2 model card," 2024.</a:t>
            </a:r>
          </a:p>
          <a:p>
            <a:pPr marL="0" indent="0">
              <a:buNone/>
            </a:pPr>
            <a:r>
              <a:rPr sz="2400" dirty="0"/>
              <a:t>[10] Ollama. "Run LLMs locally," 2024.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EA7237B-41C8-C945-8A8B-F98542EAD940}"/>
              </a:ext>
            </a:extLst>
          </p:cNvPr>
          <p:cNvSpPr txBox="1">
            <a:spLocks noChangeArrowheads="1"/>
          </p:cNvSpPr>
          <p:nvPr/>
        </p:nvSpPr>
        <p:spPr>
          <a:xfrm>
            <a:off x="628650" y="30063"/>
            <a:ext cx="6536079" cy="870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800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708A80-5276-43A4-AB04-3C04926F5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1564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A93304-03D7-493E-92D6-38FC853DA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A77A-971A-3244-890F-3B99F774724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DCFDDDB-0F2B-4CC6-8C8A-5C6670B6DE9E}"/>
              </a:ext>
            </a:extLst>
          </p:cNvPr>
          <p:cNvSpPr txBox="1">
            <a:spLocks/>
          </p:cNvSpPr>
          <p:nvPr/>
        </p:nvSpPr>
        <p:spPr>
          <a:xfrm>
            <a:off x="5688672" y="2552995"/>
            <a:ext cx="2911715" cy="160380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Questions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599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723</TotalTime>
  <Words>940</Words>
  <Application>Microsoft Macintosh PowerPoint</Application>
  <PresentationFormat>On-screen Show (4:3)</PresentationFormat>
  <Paragraphs>94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creator>Microsoft Office User</dc:creator>
  <cp:lastModifiedBy>Sagar Vinod Gour</cp:lastModifiedBy>
  <cp:revision>56</cp:revision>
  <dcterms:created xsi:type="dcterms:W3CDTF">2020-12-17T21:21:33Z</dcterms:created>
  <dcterms:modified xsi:type="dcterms:W3CDTF">2026-04-30T06:24:47Z</dcterms:modified>
</cp:coreProperties>
</file>