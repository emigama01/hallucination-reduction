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18"/>
  </p:notesMasterIdLst>
  <p:sldIdLst>
    <p:sldId id="258" r:id="rId2"/>
    <p:sldId id="261" r:id="rId3"/>
    <p:sldId id="273" r:id="rId4"/>
    <p:sldId id="272" r:id="rId5"/>
    <p:sldId id="262" r:id="rId6"/>
    <p:sldId id="270" r:id="rId7"/>
    <p:sldId id="264" r:id="rId8"/>
    <p:sldId id="265" r:id="rId9"/>
    <p:sldId id="260" r:id="rId10"/>
    <p:sldId id="275" r:id="rId11"/>
    <p:sldId id="276" r:id="rId12"/>
    <p:sldId id="277" r:id="rId13"/>
    <p:sldId id="278" r:id="rId14"/>
    <p:sldId id="266" r:id="rId15"/>
    <p:sldId id="271" r:id="rId16"/>
    <p:sldId id="274" r:id="rId17"/>
  </p:sldIdLst>
  <p:sldSz cx="9144000" cy="6858000" type="screen4x3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72C"/>
    <a:srgbClr val="69B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511"/>
    <p:restoredTop sz="93333" autoAdjust="0"/>
  </p:normalViewPr>
  <p:slideViewPr>
    <p:cSldViewPr snapToGrid="0" snapToObjects="1">
      <p:cViewPr varScale="1">
        <p:scale>
          <a:sx n="127" d="100"/>
          <a:sy n="127" d="100"/>
        </p:scale>
        <p:origin x="12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a Nacif El Alaoui" userId="69746eab-fe43-459f-a36f-cd87144df17e" providerId="ADAL" clId="{FD23A653-43BC-42C3-AD44-0AA15F2914BA}"/>
    <pc:docChg chg="modSld">
      <pc:chgData name="Reda Nacif El Alaoui" userId="69746eab-fe43-459f-a36f-cd87144df17e" providerId="ADAL" clId="{FD23A653-43BC-42C3-AD44-0AA15F2914BA}" dt="2026-01-16T17:52:30.945" v="44" actId="20577"/>
      <pc:docMkLst>
        <pc:docMk/>
      </pc:docMkLst>
      <pc:sldChg chg="modSp mod">
        <pc:chgData name="Reda Nacif El Alaoui" userId="69746eab-fe43-459f-a36f-cd87144df17e" providerId="ADAL" clId="{FD23A653-43BC-42C3-AD44-0AA15F2914BA}" dt="2026-01-16T17:52:30.945" v="44" actId="20577"/>
        <pc:sldMkLst>
          <pc:docMk/>
          <pc:sldMk cId="3237590156" sldId="258"/>
        </pc:sldMkLst>
        <pc:spChg chg="mod">
          <ac:chgData name="Reda Nacif El Alaoui" userId="69746eab-fe43-459f-a36f-cd87144df17e" providerId="ADAL" clId="{FD23A653-43BC-42C3-AD44-0AA15F2914BA}" dt="2026-01-16T17:52:30.945" v="44" actId="20577"/>
          <ac:spMkLst>
            <pc:docMk/>
            <pc:sldMk cId="3237590156" sldId="258"/>
            <ac:spMk id="9" creationId="{A2163CFA-8E03-DC47-AB89-020E49AEA15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782C7-A981-DA49-9F80-7A4E75405182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12654-83C3-6247-B37B-7386861A2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43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C60DCD-A1EE-D04E-A050-0D41A7407592}"/>
              </a:ext>
            </a:extLst>
          </p:cNvPr>
          <p:cNvSpPr/>
          <p:nvPr userDrawn="1"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8DFAC-6C93-D941-AD4C-56B7F38F7E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6236468" y="-171450"/>
            <a:ext cx="3076696" cy="30766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56F2F19-5F1F-9540-9B80-03841B943248}"/>
              </a:ext>
            </a:extLst>
          </p:cNvPr>
          <p:cNvSpPr/>
          <p:nvPr userDrawn="1"/>
        </p:nvSpPr>
        <p:spPr>
          <a:xfrm>
            <a:off x="0" y="2651760"/>
            <a:ext cx="9144000" cy="9144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006448-8A20-764C-A113-1826193078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2150" y="6176068"/>
            <a:ext cx="2743200" cy="24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25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33169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693670"/>
            <a:ext cx="3886200" cy="34767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693670"/>
            <a:ext cx="3886200" cy="34767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F4AE9C-67F5-1A41-89B0-DEEE29CEB63B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E368CC-3F6A-894C-9234-DC83E799A195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72DBF6-0DAC-E148-9CD9-C668F894CB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5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233169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233170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992293"/>
            <a:ext cx="2949178" cy="3114503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43BBDD-4F51-5942-AA98-E7E60DD246B8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12223B-7DCB-0A48-A51E-8DF64C6AB09A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FA19B8AF-179C-6A40-9FCF-C1F83ADFC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087DC1-D29E-C342-8A11-CCD0B4FE6B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5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D56338-8C42-5A4C-B15A-5E6D618BF4F2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4F877C-2745-294D-A776-CA518D80DE0A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0B38AD8-F3C5-7940-BF85-B96BF38E0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FA62369-8A22-664A-A57A-10CC43BAE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3169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FA4AFD9-2B8B-FE40-A4BC-0A4258AA8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693670"/>
            <a:ext cx="7886700" cy="347672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CD807D-CF7D-A84C-AABB-8EB38292CA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24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95645F-D1FD-AB49-94B6-E1A0A46E6E38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C020F-74CE-744F-B417-D101F5F860F7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79FC38-93A5-254A-9580-ADF945DCA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A57B61-6E93-3E4B-B366-DD651B8AFF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-685800" y="-685800"/>
            <a:ext cx="6175094" cy="617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5A77A-971A-3244-890F-3B99F7747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2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7" r:id="rId3"/>
    <p:sldLayoutId id="2147483660" r:id="rId4"/>
    <p:sldLayoutId id="2147483665" r:id="rId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4614B48C-432E-4046-9F84-C6EB95379FC1}"/>
              </a:ext>
            </a:extLst>
          </p:cNvPr>
          <p:cNvSpPr txBox="1">
            <a:spLocks noChangeArrowheads="1"/>
          </p:cNvSpPr>
          <p:nvPr/>
        </p:nvSpPr>
        <p:spPr>
          <a:xfrm>
            <a:off x="756214" y="3324755"/>
            <a:ext cx="6623825" cy="1972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63CFA-8E03-DC47-AB89-020E49AEA157}"/>
              </a:ext>
            </a:extLst>
          </p:cNvPr>
          <p:cNvSpPr txBox="1"/>
          <p:nvPr/>
        </p:nvSpPr>
        <p:spPr>
          <a:xfrm>
            <a:off x="661944" y="5771650"/>
            <a:ext cx="217239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By: Emilio Garcia Martinez (100783029)</a:t>
            </a:r>
          </a:p>
          <a:p>
            <a:r>
              <a:rPr lang="en-US" sz="1400" dirty="0"/>
              <a:t>Date: March 2, 2026</a:t>
            </a:r>
          </a:p>
          <a:p>
            <a:r>
              <a:rPr lang="it-IT" sz="1400" dirty="0"/>
              <a:t>AI700-001_BK_Spring 2026</a:t>
            </a:r>
            <a:endParaRPr lang="en-US" sz="14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03FC2FC-871F-DC0F-E62D-C99EBE74112B}"/>
              </a:ext>
            </a:extLst>
          </p:cNvPr>
          <p:cNvSpPr txBox="1">
            <a:spLocks noChangeArrowheads="1"/>
          </p:cNvSpPr>
          <p:nvPr/>
        </p:nvSpPr>
        <p:spPr>
          <a:xfrm>
            <a:off x="555499" y="957600"/>
            <a:ext cx="5481315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HALLUCINATION REDUCTION IN LARGE LANGUAGE MODELS</a:t>
            </a:r>
          </a:p>
        </p:txBody>
      </p:sp>
      <p:pic>
        <p:nvPicPr>
          <p:cNvPr id="4" name="Picture 3" descr="A black and white circular pattern&#10;&#10;AI-generated content may be incorrect.">
            <a:extLst>
              <a:ext uri="{FF2B5EF4-FFF2-40B4-BE49-F238E27FC236}">
                <a16:creationId xmlns:a16="http://schemas.microsoft.com/office/drawing/2014/main" id="{DF334AE7-C080-294C-FC9F-2BDEB1678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349" y="2795751"/>
            <a:ext cx="4557441" cy="303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90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BCF1-984E-8948-950A-5CD959835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22947"/>
            <a:ext cx="7886700" cy="5047447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1. Introduction</a:t>
            </a:r>
            <a:endParaRPr lang="en-US" dirty="0"/>
          </a:p>
          <a:p>
            <a:pPr marL="0" indent="0">
              <a:buNone/>
            </a:pPr>
            <a:r>
              <a:rPr dirty="0"/>
              <a:t>2. Application Areas</a:t>
            </a:r>
          </a:p>
          <a:p>
            <a:pPr marL="0" indent="0">
              <a:buNone/>
            </a:pPr>
            <a:r>
              <a:rPr dirty="0"/>
              <a:t>3. Literature Review</a:t>
            </a:r>
          </a:p>
          <a:p>
            <a:pPr marL="0" indent="0">
              <a:buNone/>
            </a:pPr>
            <a:r>
              <a:rPr dirty="0"/>
              <a:t>4. Literature Review Results</a:t>
            </a:r>
          </a:p>
          <a:p>
            <a:pPr marL="0" indent="0">
              <a:buNone/>
            </a:pPr>
            <a:r>
              <a:rPr dirty="0"/>
              <a:t>5. Methodology &amp; Approach</a:t>
            </a:r>
          </a:p>
          <a:p>
            <a:pPr marL="0" indent="0">
              <a:buNone/>
            </a:pPr>
            <a:r>
              <a:rPr dirty="0"/>
              <a:t>6. Tools &amp; Libraries</a:t>
            </a:r>
          </a:p>
          <a:p>
            <a:pPr marL="0" indent="0">
              <a:buNone/>
            </a:pPr>
            <a:r>
              <a:rPr dirty="0"/>
              <a:t>7. Expected Results</a:t>
            </a:r>
          </a:p>
          <a:p>
            <a:pPr marL="0" indent="0">
              <a:buNone/>
            </a:pPr>
            <a:r>
              <a:rPr dirty="0"/>
              <a:t>8. Conclusion &amp; Future Work</a:t>
            </a:r>
          </a:p>
          <a:p>
            <a:pPr marL="0" indent="0">
              <a:buNone/>
            </a:pPr>
            <a:r>
              <a:rPr dirty="0"/>
              <a:t>9. References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684B8B-43FC-324A-B112-F515B802157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Outlines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C8CBDB-C241-4C9B-9B12-C17CD5A4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20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918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BCF1-984E-8948-950A-5CD959835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22947"/>
            <a:ext cx="7886700" cy="5233404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sz="2400" b="0" dirty="0">
                <a:latin typeface="Calibri"/>
              </a:rPr>
              <a:t>LLMs can write really well, but they have a serious problem — they sometimes just make things up, and do it confidently</a:t>
            </a:r>
          </a:p>
          <a:p>
            <a:r>
              <a:rPr sz="2400" b="0" dirty="0">
                <a:latin typeface="Calibri"/>
              </a:rPr>
              <a:t>These "hallucinations" come in different forms: the model might contradict itself, state wrong facts, or cite sources that don't exist</a:t>
            </a:r>
          </a:p>
          <a:p>
            <a:r>
              <a:rPr sz="2400" b="0" dirty="0">
                <a:latin typeface="Calibri"/>
              </a:rPr>
              <a:t>Why does this happen? Gaps in training data, the way these models generate text probabilistically, and no built-in fact-checking</a:t>
            </a:r>
          </a:p>
          <a:p>
            <a:r>
              <a:rPr sz="2400" b="0" dirty="0">
                <a:latin typeface="Calibri"/>
              </a:rPr>
              <a:t>This matters a lot in fields like medicine, law, and education where wrong information can cause real harm</a:t>
            </a:r>
          </a:p>
          <a:p>
            <a:r>
              <a:rPr sz="2400" b="0" dirty="0">
                <a:latin typeface="Calibri"/>
              </a:rPr>
              <a:t>The good news: techniques like RAG, chain-of-thought prompting, and fine-tuning are showing real promise in reducing this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684B8B-43FC-324A-B112-F515B802157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608BD0-994E-4EA0-A0B0-4FC8DE30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20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88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EE83A-6C8C-7541-9538-BD4C0FC9B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95754"/>
            <a:ext cx="7886700" cy="4974640"/>
          </a:xfrm>
        </p:spPr>
        <p:txBody>
          <a:bodyPr wrap="square">
            <a:normAutofit/>
          </a:bodyPr>
          <a:lstStyle/>
          <a:p>
            <a:r>
              <a:rPr sz="2400" b="0" dirty="0">
                <a:latin typeface="Calibri"/>
              </a:rPr>
              <a:t>Healthcare: Imagine a chatbot telling a patient the wrong drug dosage — that's what hallucination looks like in medicine</a:t>
            </a:r>
          </a:p>
          <a:p>
            <a:r>
              <a:rPr sz="2400" b="0" dirty="0">
                <a:latin typeface="Calibri"/>
              </a:rPr>
              <a:t>Legal: Lawyers have already gotten in trouble for submitting AI-generated briefs with made-up case citations</a:t>
            </a:r>
          </a:p>
          <a:p>
            <a:r>
              <a:rPr sz="2400" b="0" dirty="0">
                <a:latin typeface="Calibri"/>
              </a:rPr>
              <a:t>Education: Students using LLMs for learning could absorb completely wrong information without realizing it</a:t>
            </a:r>
          </a:p>
          <a:p>
            <a:r>
              <a:rPr sz="2400" b="0" dirty="0">
                <a:latin typeface="Calibri"/>
              </a:rPr>
              <a:t>Software: AI coding assistants sometimes write code that looks fine but has subtle bugs or security holes</a:t>
            </a:r>
          </a:p>
          <a:p>
            <a:r>
              <a:rPr sz="2400" b="0" dirty="0">
                <a:latin typeface="Calibri"/>
              </a:rPr>
              <a:t>Bottom line: until we solve hallucination, we can't fully trust LLMs in any high-stakes setting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3C476EA-0E49-6541-BE5E-4D9CDA48CDD2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F13B53-3C52-41FD-87EB-9108EC992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20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67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624C1200-80BB-1D4D-8DF7-28BFE7F023B4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LITERATURE REVIEW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C3C349B-4585-3D43-8B4A-1B616575F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8650" y="1371601"/>
            <a:ext cx="7782639" cy="50292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b="1" dirty="0"/>
              <a:t>Paper 1: Dang et al. (2025) </a:t>
            </a:r>
            <a:r>
              <a:rPr lang="en-US" sz="2000" b="1" dirty="0"/>
              <a:t>-</a:t>
            </a:r>
            <a:r>
              <a:rPr sz="2000" b="1" dirty="0"/>
              <a:t> Frontiers in Artificial Intelligence</a:t>
            </a:r>
            <a:endParaRPr lang="en-US" sz="2000" b="1" dirty="0"/>
          </a:p>
          <a:p>
            <a:r>
              <a:rPr lang="en-US" dirty="0"/>
              <a:t>	"Survey and Analysis of Hallucinations in LLMs: Attribution to Prompting Strategies or Model Behavior"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000" b="1" dirty="0"/>
              <a:t>Paper 2: Bang et al. (2025) </a:t>
            </a:r>
            <a:r>
              <a:rPr lang="en-US" sz="2000" b="1" dirty="0"/>
              <a:t>-</a:t>
            </a:r>
            <a:r>
              <a:rPr sz="2000" b="1" dirty="0"/>
              <a:t> ACL 2025</a:t>
            </a:r>
          </a:p>
          <a:p>
            <a:r>
              <a:rPr lang="en-US" dirty="0"/>
              <a:t>	</a:t>
            </a:r>
            <a:r>
              <a:rPr dirty="0"/>
              <a:t>"</a:t>
            </a:r>
            <a:r>
              <a:rPr dirty="0" err="1"/>
              <a:t>HalluLens</a:t>
            </a:r>
            <a:r>
              <a:rPr dirty="0"/>
              <a:t>: LLM Hallucination Benchmark"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000" b="1" dirty="0"/>
              <a:t>Paper 3: Song et al. (2024) </a:t>
            </a:r>
            <a:r>
              <a:rPr lang="en-US" sz="2000" b="1" dirty="0"/>
              <a:t>-</a:t>
            </a:r>
            <a:r>
              <a:rPr sz="2000" b="1" dirty="0"/>
              <a:t> EMNLP 2024</a:t>
            </a:r>
          </a:p>
          <a:p>
            <a:r>
              <a:rPr lang="en-US" dirty="0"/>
              <a:t>	</a:t>
            </a:r>
            <a:r>
              <a:rPr dirty="0"/>
              <a:t>"RAG-HAT: A Hallucination-Aware Tuning Pipeline for LLM in Retrieval-Augmented Generation"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885912-8FC9-4054-A0FC-DF8FEDA2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20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75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1A61DF-FFA6-4A49-9806-53C995A22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1005" y="1046361"/>
            <a:ext cx="8588502" cy="1780032"/>
          </a:xfrm>
        </p:spPr>
        <p:txBody>
          <a:bodyPr vert="horz" wrap="square" lIns="91440" tIns="45720" rIns="91440" bIns="45720" rtlCol="0">
            <a:noAutofit/>
          </a:bodyPr>
          <a:lstStyle/>
          <a:p>
            <a:r>
              <a:rPr sz="1300" b="0">
                <a:latin typeface="Calibri"/>
              </a:rPr>
              <a:t>CoT prompting helps when the hallucination is caused by bad prompting, but some models hallucinate no matter what you try [1]</a:t>
            </a:r>
          </a:p>
          <a:p>
            <a:r>
              <a:rPr sz="1300" b="0">
                <a:latin typeface="Calibri"/>
              </a:rPr>
              <a:t>We need proper benchmarks to actually measure whether our fixes are working — HalluLens gives us that [2]</a:t>
            </a:r>
          </a:p>
          <a:p>
            <a:r>
              <a:rPr sz="1300" b="0">
                <a:latin typeface="Calibri"/>
              </a:rPr>
              <a:t>The RAG-HAT approach (detect → correct → fine-tune) showed that combining techniques gets much better results than any single trick [4]</a:t>
            </a:r>
          </a:p>
          <a:p>
            <a:r>
              <a:rPr sz="1300" b="0">
                <a:latin typeface="Calibri"/>
              </a:rPr>
              <a:t>The takeaway from the literature: no silver bullet exists, but stacking methods together is the most promising direction</a:t>
            </a:r>
          </a:p>
        </p:txBody>
      </p:sp>
      <p:pic>
        <p:nvPicPr>
          <p:cNvPr id="16" name="Picture 15" descr="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744" y="2971800"/>
            <a:ext cx="5455024" cy="3409387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50743A-09CD-414F-8C62-1F7818E59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sz="1200"/>
              <a:t>6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D9098E-5BEC-EE4C-91E9-41A1CB5F73B3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E1D5BA9-E84C-B971-2AB9-E90249C2EBE4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LITERATURE REVIEW RESULTS</a:t>
            </a:r>
          </a:p>
        </p:txBody>
      </p:sp>
    </p:spTree>
    <p:extLst>
      <p:ext uri="{BB962C8B-B14F-4D97-AF65-F5344CB8AC3E}">
        <p14:creationId xmlns:p14="http://schemas.microsoft.com/office/powerpoint/2010/main" val="89969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4552A-8DC8-A441-9629-4D1DDAC44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0" y="1128713"/>
            <a:ext cx="7942659" cy="4978083"/>
          </a:xfrm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300" b="1">
                <a:latin typeface="Calibri"/>
              </a:rPr>
              <a:t>Phase 1 — Getting a Baseline:</a:t>
            </a:r>
            <a:endParaRPr lang="en-US" sz="2000" b="1" dirty="0"/>
          </a:p>
          <a:p>
            <a:r>
              <a:rPr sz="1300" b="0">
                <a:latin typeface="Calibri"/>
              </a:rPr>
              <a:t>Ran LLaMA 3.2 (3B) on 30 questions across 5 topics with no tricks — just asked it to answer factually, to see how bad the problem actually is</a:t>
            </a:r>
          </a:p>
          <a:p>
            <a:r>
              <a:rPr sz="1300" b="1">
                <a:latin typeface="Calibri"/>
              </a:rPr>
              <a:t>Phase 2 — Trying Smarter Prompts:</a:t>
            </a:r>
          </a:p>
          <a:p>
            <a:r>
              <a:rPr sz="1300" b="0">
                <a:latin typeface="Calibri"/>
              </a:rPr>
              <a:t>Tested three ideas: asking it to think step-by-step (CoT), showing it examples of good answers (few-shot), and asking the same question 3 times and picking the most common answer (self-consistency)</a:t>
            </a:r>
          </a:p>
          <a:p>
            <a:r>
              <a:rPr sz="1300" b="1">
                <a:latin typeface="Calibri"/>
              </a:rPr>
              <a:t>Phase 3 — Giving It a Knowledge Base:</a:t>
            </a:r>
          </a:p>
          <a:p>
            <a:r>
              <a:rPr sz="1300" b="0">
                <a:latin typeface="Calibri"/>
              </a:rPr>
              <a:t>Built a small fact-checked reference library with ChromaDB, so the model could actually look things up before answering — tested this alone and combined with the best prompting tricks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7F2A8B2-78A4-D64F-81E1-A72FF0360AB0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ALGORITHM/APPROACH/METHODOLOGY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BDB155-6487-4447-8843-7619D69D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200"/>
              <a:t>7</a:t>
            </a:r>
            <a:endParaRPr lang="en-US" dirty="0"/>
          </a:p>
        </p:txBody>
      </p:sp>
      <p:pic>
        <p:nvPicPr>
          <p:cNvPr id="7" name="Picture 6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497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20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897B39-8EEF-D54A-9ABB-EDB671323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271589"/>
            <a:ext cx="7871222" cy="4835208"/>
          </a:xfrm>
        </p:spPr>
        <p:txBody>
          <a:bodyPr wrap="square">
            <a:noAutofit/>
          </a:bodyPr>
          <a:lstStyle/>
          <a:p>
            <a:pPr marL="342900" indent="-342900">
              <a:buAutoNum type="arabicPeriod"/>
            </a:pPr>
            <a:r>
              <a:rPr sz="2000" b="0" dirty="0">
                <a:latin typeface="Calibri"/>
              </a:rPr>
              <a:t>Python 3.9+ — our main language for everything</a:t>
            </a:r>
          </a:p>
          <a:p>
            <a:r>
              <a:rPr sz="2000" b="0" dirty="0" err="1">
                <a:latin typeface="Calibri"/>
              </a:rPr>
              <a:t>LLaMA</a:t>
            </a:r>
            <a:r>
              <a:rPr sz="2000" b="0" dirty="0">
                <a:latin typeface="Calibri"/>
              </a:rPr>
              <a:t> 3.2 (3B) through Ollama — runs the model locally, no API costs</a:t>
            </a:r>
          </a:p>
          <a:p>
            <a:r>
              <a:rPr sz="2000" b="0" dirty="0" err="1">
                <a:latin typeface="Calibri"/>
              </a:rPr>
              <a:t>ChromaDB</a:t>
            </a:r>
            <a:r>
              <a:rPr sz="2000" b="0" dirty="0">
                <a:latin typeface="Calibri"/>
              </a:rPr>
              <a:t> — stores our knowledge base as searchable vectors</a:t>
            </a:r>
          </a:p>
          <a:p>
            <a:r>
              <a:rPr sz="2000" b="0" dirty="0">
                <a:latin typeface="Calibri"/>
              </a:rPr>
              <a:t>all-MiniLM-L6-v2 — turns text into embeddings for the vector search</a:t>
            </a:r>
          </a:p>
          <a:p>
            <a:r>
              <a:rPr sz="2000" b="0" dirty="0">
                <a:latin typeface="Calibri"/>
              </a:rPr>
              <a:t>ROUGE-L + custom Factual Accuracy metric — measures how correct the answers are</a:t>
            </a:r>
          </a:p>
          <a:p>
            <a:r>
              <a:rPr sz="2000" b="0" dirty="0">
                <a:latin typeface="Calibri"/>
              </a:rPr>
              <a:t>pandas &amp; NumPy — data wrangling and number crunching</a:t>
            </a:r>
          </a:p>
          <a:p>
            <a:r>
              <a:rPr sz="2000" b="0" dirty="0">
                <a:latin typeface="Calibri"/>
              </a:rPr>
              <a:t>matplotlib &amp; seaborn — making the charts and visualizations</a:t>
            </a:r>
          </a:p>
          <a:p>
            <a:r>
              <a:rPr sz="2000" b="0" dirty="0">
                <a:latin typeface="Calibri"/>
              </a:rPr>
              <a:t>Hardware: Apple M1 with 8GB RAM — proof you don't need a beefy GPU for this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AF9F8F-9877-1243-BF92-74D8C3F1781F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UNDERSTANDING THE FUNCTIONS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AB81F8-0768-4973-B1B1-77582F122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200"/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979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464934-3DAE-4467-A3E5-D53DDB27F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7829" y="1040577"/>
            <a:ext cx="7308342" cy="5390367"/>
          </a:xfrm>
        </p:spPr>
        <p:txBody>
          <a:bodyPr vert="horz" wrap="square" lIns="91440" tIns="45720" rIns="91440" bIns="45720" rtlCol="0">
            <a:noAutofit/>
          </a:bodyPr>
          <a:lstStyle/>
          <a:p>
            <a:r>
              <a:rPr sz="2000" b="1" dirty="0">
                <a:latin typeface="Calibri"/>
              </a:rPr>
              <a:t>What we found (</a:t>
            </a:r>
            <a:r>
              <a:rPr sz="2000" b="1" dirty="0" err="1">
                <a:latin typeface="Calibri"/>
              </a:rPr>
              <a:t>LLaMA</a:t>
            </a:r>
            <a:r>
              <a:rPr sz="2000" b="1" dirty="0">
                <a:latin typeface="Calibri"/>
              </a:rPr>
              <a:t> 3.2 3B, 30 questions):</a:t>
            </a:r>
          </a:p>
          <a:p>
            <a:r>
              <a:rPr sz="2000" b="0" dirty="0">
                <a:latin typeface="Calibri"/>
              </a:rPr>
              <a:t>Plain baseline: 0.388 accuracy, 66.7% hallucination rate — pretty rough starting point</a:t>
            </a:r>
          </a:p>
          <a:p>
            <a:r>
              <a:rPr sz="2000" b="0" dirty="0">
                <a:latin typeface="Calibri"/>
              </a:rPr>
              <a:t>Chain-of-Thought: accuracy actually dropped to 0.346 — the model rambled more but didn't get more correct</a:t>
            </a:r>
          </a:p>
          <a:p>
            <a:r>
              <a:rPr sz="2000" b="0" dirty="0">
                <a:latin typeface="Calibri"/>
              </a:rPr>
              <a:t>Few-Shot: bumped accuracy to 0.460 — giving examples helped, best of the prompt-only methods</a:t>
            </a:r>
          </a:p>
          <a:p>
            <a:r>
              <a:rPr sz="2000" b="0" dirty="0">
                <a:latin typeface="Calibri"/>
              </a:rPr>
              <a:t>Self-Consistency: accuracy 0.448, hallucination rate improved slightly — simple but effective</a:t>
            </a:r>
          </a:p>
          <a:p>
            <a:r>
              <a:rPr sz="2000" b="0" dirty="0">
                <a:latin typeface="Calibri"/>
              </a:rPr>
              <a:t>RAG Pipeline: accuracy jumped to 0.510 with best ROUGE-L (0.353) — having facts to reference made a clear difference</a:t>
            </a:r>
          </a:p>
          <a:p>
            <a:r>
              <a:rPr sz="2000" b="0" dirty="0">
                <a:latin typeface="Calibri"/>
              </a:rPr>
              <a:t>RAG + Optimized: highest accuracy at 0.556, that's a 43.2% improvement over baseline</a:t>
            </a:r>
          </a:p>
          <a:p>
            <a:r>
              <a:rPr sz="2000" b="1" dirty="0">
                <a:latin typeface="Calibri"/>
              </a:rPr>
              <a:t>The takeaway: giving the model a knowledge base matters way more than clever prompting alone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8437EB-2167-4AA1-BF66-4E9103D7B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sz="1200"/>
              <a:t>9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D9098E-5BEC-EE4C-91E9-41A1CB5F73B3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9448F6-2A60-792A-729B-2DBA6C0F1611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2800" b="1">
                <a:solidFill>
                  <a:srgbClr val="FFFFFF"/>
                </a:solidFill>
                <a:latin typeface="Calibri"/>
              </a:rPr>
              <a:t>EXPERIMENTAL RESULTS</a:t>
            </a:r>
          </a:p>
        </p:txBody>
      </p:sp>
    </p:spTree>
    <p:extLst>
      <p:ext uri="{BB962C8B-B14F-4D97-AF65-F5344CB8AC3E}">
        <p14:creationId xmlns:p14="http://schemas.microsoft.com/office/powerpoint/2010/main" val="2985942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allucination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000" y="1311015"/>
            <a:ext cx="6800000" cy="4037787"/>
          </a:xfrm>
          <a:prstGeom prst="rect">
            <a:avLst/>
          </a:prstGeom>
        </p:spPr>
      </p:pic>
      <p:sp>
        <p:nvSpPr>
          <p:cNvPr id="109" name="Title Box 9">
            <a:extLst>
              <a:ext uri="{FF2B5EF4-FFF2-40B4-BE49-F238E27FC236}">
                <a16:creationId xmlns:a16="http://schemas.microsoft.com/office/drawing/2014/main" id="{69684B8B-43FC-324A-B112-F515B802157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HALLUCINATION RATES 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000" y="1403224"/>
            <a:ext cx="6800000" cy="4051552"/>
          </a:xfrm>
          <a:prstGeom prst="rect">
            <a:avLst/>
          </a:prstGeom>
        </p:spPr>
      </p:pic>
      <p:sp>
        <p:nvSpPr>
          <p:cNvPr id="110" name="Title Box 10">
            <a:extLst>
              <a:ext uri="{FF2B5EF4-FFF2-40B4-BE49-F238E27FC236}">
                <a16:creationId xmlns:a16="http://schemas.microsoft.com/office/drawing/2014/main" id="{69684B8B-43FC-324A-B112-F515B802157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ACCURACY &amp; ROUGE-L COMPARISON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tegor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000" y="1277780"/>
            <a:ext cx="6800000" cy="4302439"/>
          </a:xfrm>
          <a:prstGeom prst="rect">
            <a:avLst/>
          </a:prstGeom>
        </p:spPr>
      </p:pic>
      <p:sp>
        <p:nvSpPr>
          <p:cNvPr id="111" name="Title Box 11">
            <a:extLst>
              <a:ext uri="{FF2B5EF4-FFF2-40B4-BE49-F238E27FC236}">
                <a16:creationId xmlns:a16="http://schemas.microsoft.com/office/drawing/2014/main" id="{69684B8B-43FC-324A-B112-F515B802157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CATEGORY-LEVEL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96949"/>
            <a:ext cx="7886700" cy="4621530"/>
          </a:xfrm>
        </p:spPr>
        <p:txBody>
          <a:bodyPr wrap="square">
            <a:noAutofit/>
          </a:bodyPr>
          <a:lstStyle/>
          <a:p>
            <a:r>
              <a:rPr sz="2000" b="0" dirty="0">
                <a:latin typeface="Calibri"/>
              </a:rPr>
              <a:t>RAG + smart prompting gave us the biggest win — 43.2% better accuracy than just asking the model directly</a:t>
            </a:r>
          </a:p>
          <a:p>
            <a:r>
              <a:rPr sz="2000" b="0" dirty="0">
                <a:latin typeface="Calibri"/>
              </a:rPr>
              <a:t>On a small 3B model, prompt tricks alone don't move the needle much — the model needs external facts to work with</a:t>
            </a:r>
          </a:p>
          <a:p>
            <a:r>
              <a:rPr sz="2000" b="0" dirty="0">
                <a:latin typeface="Calibri"/>
              </a:rPr>
              <a:t>Self-consistency is the easiest win if you can't set up RAG — just ask 3 times and take the majority answer</a:t>
            </a:r>
          </a:p>
          <a:p>
            <a:r>
              <a:rPr sz="2000" b="0" dirty="0">
                <a:latin typeface="Calibri"/>
              </a:rPr>
              <a:t>ROUGE-L by itself is misleading — </a:t>
            </a:r>
            <a:r>
              <a:rPr sz="2000" b="0" dirty="0" err="1">
                <a:latin typeface="Calibri"/>
              </a:rPr>
              <a:t>CoT</a:t>
            </a:r>
            <a:r>
              <a:rPr sz="2000" b="0" dirty="0">
                <a:latin typeface="Calibri"/>
              </a:rPr>
              <a:t> answers were often right but got low scores because they were too wordy</a:t>
            </a:r>
          </a:p>
          <a:p>
            <a:r>
              <a:rPr sz="2000" b="0" dirty="0">
                <a:latin typeface="Calibri"/>
              </a:rPr>
              <a:t>Geography and Health questions improved the most with RAG — makes sense, those are pure fact-lookup tasks</a:t>
            </a:r>
          </a:p>
          <a:p>
            <a:r>
              <a:rPr sz="2000" b="0" dirty="0">
                <a:latin typeface="Calibri"/>
              </a:rPr>
              <a:t>History and Misconceptions were the hardest to fix — they need the model to reason, not just retrieve</a:t>
            </a:r>
          </a:p>
          <a:p>
            <a:r>
              <a:rPr sz="2000" b="0" dirty="0">
                <a:latin typeface="Calibri"/>
              </a:rPr>
              <a:t>The overall lesson: ground your model in real data, don't just hope better prompts will fix everything</a:t>
            </a:r>
          </a:p>
        </p:txBody>
      </p:sp>
      <p:sp>
        <p:nvSpPr>
          <p:cNvPr id="112" name="Title Box 12">
            <a:extLst>
              <a:ext uri="{FF2B5EF4-FFF2-40B4-BE49-F238E27FC236}">
                <a16:creationId xmlns:a16="http://schemas.microsoft.com/office/drawing/2014/main" id="{69684B8B-43FC-324A-B112-F515B802157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KEY FINDINGS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1C75F-C6A1-F249-8911-735ED4C2D2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43000"/>
            <a:ext cx="7886700" cy="5027394"/>
          </a:xfrm>
        </p:spPr>
        <p:txBody>
          <a:bodyPr wrap="square">
            <a:noAutofit/>
          </a:bodyPr>
          <a:lstStyle/>
          <a:p>
            <a:r>
              <a:rPr sz="2000" b="0" dirty="0">
                <a:latin typeface="Calibri"/>
              </a:rPr>
              <a:t>Hallucination is a real barrier to trusting LLMs — but it's not unsolvable</a:t>
            </a:r>
          </a:p>
          <a:p>
            <a:r>
              <a:rPr sz="2000" b="0" dirty="0">
                <a:latin typeface="Calibri"/>
              </a:rPr>
              <a:t>Our best approach (RAG + optimized prompts) cut errors by 43.2% — that's a meaningful improvement</a:t>
            </a:r>
          </a:p>
          <a:p>
            <a:r>
              <a:rPr sz="2000" b="0" dirty="0">
                <a:latin typeface="Calibri"/>
              </a:rPr>
              <a:t>Few-shot and self-consistency are good starting points if RAG isn't an option</a:t>
            </a:r>
          </a:p>
          <a:p>
            <a:r>
              <a:rPr sz="2000" b="0" dirty="0" err="1">
                <a:latin typeface="Calibri"/>
              </a:rPr>
              <a:t>CoT</a:t>
            </a:r>
            <a:r>
              <a:rPr sz="2000" b="0" dirty="0">
                <a:latin typeface="Calibri"/>
              </a:rPr>
              <a:t> didn't work great on our small model — bigger models might handle it better</a:t>
            </a:r>
          </a:p>
          <a:p>
            <a:r>
              <a:rPr sz="2000" b="0" dirty="0">
                <a:latin typeface="Calibri"/>
              </a:rPr>
              <a:t>No single technique is a magic fix — you need to combine approaches for best results</a:t>
            </a:r>
          </a:p>
          <a:p>
            <a:r>
              <a:rPr sz="2000" b="1" dirty="0">
                <a:latin typeface="Calibri"/>
              </a:rPr>
              <a:t>What's next for us:</a:t>
            </a:r>
          </a:p>
          <a:p>
            <a:r>
              <a:rPr sz="2000" b="0" dirty="0">
                <a:latin typeface="Calibri"/>
              </a:rPr>
              <a:t>  Test on bigger models (7B, 13B, 70B) to see if </a:t>
            </a:r>
            <a:r>
              <a:rPr sz="2000" b="0" dirty="0" err="1">
                <a:latin typeface="Calibri"/>
              </a:rPr>
              <a:t>CoT</a:t>
            </a:r>
            <a:r>
              <a:rPr sz="2000" b="0" dirty="0">
                <a:latin typeface="Calibri"/>
              </a:rPr>
              <a:t> improves with scale</a:t>
            </a:r>
          </a:p>
          <a:p>
            <a:r>
              <a:rPr sz="2000" b="0" dirty="0">
                <a:latin typeface="Calibri"/>
              </a:rPr>
              <a:t>  Try hallucination-aware fine-tuning like RAG-HAT's DPO approach</a:t>
            </a:r>
          </a:p>
          <a:p>
            <a:r>
              <a:rPr sz="2000" b="0" dirty="0">
                <a:latin typeface="Calibri"/>
              </a:rPr>
              <a:t>  Run the full </a:t>
            </a:r>
            <a:r>
              <a:rPr sz="2000" b="0" dirty="0" err="1">
                <a:latin typeface="Calibri"/>
              </a:rPr>
              <a:t>TruthfulQA</a:t>
            </a:r>
            <a:r>
              <a:rPr sz="2000" b="0" dirty="0">
                <a:latin typeface="Calibri"/>
              </a:rPr>
              <a:t> benchmark for more robust results</a:t>
            </a:r>
          </a:p>
          <a:p>
            <a:r>
              <a:rPr sz="2000" b="0" dirty="0">
                <a:latin typeface="Calibri"/>
              </a:rPr>
              <a:t>  Build domain-specific pipelines for medical and legal use cases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A7DF44-3DAB-B743-93F0-C6ABA765A070}"/>
              </a:ext>
            </a:extLst>
          </p:cNvPr>
          <p:cNvSpPr/>
          <p:nvPr/>
        </p:nvSpPr>
        <p:spPr>
          <a:xfrm>
            <a:off x="4094144" y="3278959"/>
            <a:ext cx="955711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Conclusion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1B7E36A-E709-2A49-87DB-0514E99099B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CONCLUSION &amp; FUTURE WORK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9D95AC-7C9F-4104-805C-0291CA50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200"/>
              <a:t>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755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4DDEF-9499-0848-9FF9-781097E13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08295"/>
            <a:ext cx="7886700" cy="4862099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000" b="0" dirty="0">
                <a:latin typeface="Calibri"/>
              </a:rPr>
              <a:t>[1] Dang et al. (2025). Survey of Hallucinations in LLMs. Frontiers in AI, vol. 8.</a:t>
            </a:r>
          </a:p>
          <a:p>
            <a:pPr marL="0" indent="0">
              <a:buNone/>
            </a:pPr>
            <a:r>
              <a:rPr sz="2000" b="0" dirty="0">
                <a:latin typeface="Calibri"/>
              </a:rPr>
              <a:t>[2] Bang et al. (2025). </a:t>
            </a:r>
            <a:r>
              <a:rPr sz="2000" b="0" dirty="0" err="1">
                <a:latin typeface="Calibri"/>
              </a:rPr>
              <a:t>HalluLens</a:t>
            </a:r>
            <a:r>
              <a:rPr sz="2000" b="0" dirty="0">
                <a:latin typeface="Calibri"/>
              </a:rPr>
              <a:t>: LLM Hallucination Benchmark. ACL 2025.</a:t>
            </a:r>
          </a:p>
          <a:p>
            <a:pPr marL="0" indent="0">
              <a:buNone/>
            </a:pPr>
            <a:r>
              <a:rPr sz="2000" b="0" dirty="0">
                <a:latin typeface="Calibri"/>
              </a:rPr>
              <a:t>[3] Song et al. (2024). RAG-HAT: Hallucination-Aware Tuning Pipeline. EMNLP 2024.</a:t>
            </a:r>
          </a:p>
          <a:p>
            <a:pPr marL="0" indent="0">
              <a:buNone/>
            </a:pPr>
            <a:r>
              <a:rPr sz="2000" b="0" dirty="0">
                <a:latin typeface="Calibri"/>
              </a:rPr>
              <a:t>[4] Wang et al. (2023). Self-Consistency in Chain-of-Thought Reasoning. ICLR 2023.</a:t>
            </a:r>
          </a:p>
          <a:p>
            <a:pPr marL="0" indent="0">
              <a:buNone/>
            </a:pPr>
            <a:r>
              <a:rPr sz="2000" b="0" dirty="0">
                <a:latin typeface="Calibri"/>
              </a:rPr>
              <a:t>[5] Lin et al. (2022). </a:t>
            </a:r>
            <a:r>
              <a:rPr sz="2000" b="0" dirty="0" err="1">
                <a:latin typeface="Calibri"/>
              </a:rPr>
              <a:t>TruthfulQA</a:t>
            </a:r>
            <a:r>
              <a:rPr sz="2000" b="0" dirty="0">
                <a:latin typeface="Calibri"/>
              </a:rPr>
              <a:t>: Measuring How Models Mimic Falsehoods. ACL 2022.</a:t>
            </a:r>
          </a:p>
          <a:p>
            <a:pPr marL="0" indent="0">
              <a:buNone/>
            </a:pPr>
            <a:r>
              <a:rPr sz="2000" b="0" dirty="0">
                <a:latin typeface="Calibri"/>
              </a:rPr>
              <a:t>[6] Lewis et al. (2020). Retrieval-Augmented Generation for NLP. </a:t>
            </a:r>
            <a:r>
              <a:rPr sz="2000" b="0" dirty="0" err="1">
                <a:latin typeface="Calibri"/>
              </a:rPr>
              <a:t>NeurIPS</a:t>
            </a:r>
            <a:r>
              <a:rPr sz="2000" b="0" dirty="0">
                <a:latin typeface="Calibri"/>
              </a:rPr>
              <a:t> 2020.</a:t>
            </a:r>
          </a:p>
          <a:p>
            <a:pPr marL="0" indent="0">
              <a:buNone/>
            </a:pPr>
            <a:r>
              <a:rPr sz="2000" b="0" dirty="0">
                <a:latin typeface="Calibri"/>
              </a:rPr>
              <a:t>[7] Wei et al. (2022). Chain-of-Thought Prompting. </a:t>
            </a:r>
            <a:r>
              <a:rPr sz="2000" b="0" dirty="0" err="1">
                <a:latin typeface="Calibri"/>
              </a:rPr>
              <a:t>NeurIPS</a:t>
            </a:r>
            <a:r>
              <a:rPr sz="2000" b="0" dirty="0">
                <a:latin typeface="Calibri"/>
              </a:rPr>
              <a:t> 2022.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EA7237B-41C8-C945-8A8B-F98542EAD940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708A80-5276-43A4-AB04-3C04926F5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200"/>
              <a:t>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56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A93304-03D7-493E-92D6-38FC853D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200"/>
              <a:t>16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CFDDDB-0F2B-4CC6-8C8A-5C6670B6DE9E}"/>
              </a:ext>
            </a:extLst>
          </p:cNvPr>
          <p:cNvSpPr txBox="1">
            <a:spLocks/>
          </p:cNvSpPr>
          <p:nvPr/>
        </p:nvSpPr>
        <p:spPr>
          <a:xfrm>
            <a:off x="5688672" y="2552995"/>
            <a:ext cx="2911715" cy="16038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Questions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599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738</TotalTime>
  <Words>1220</Words>
  <Application>Microsoft Macintosh PowerPoint</Application>
  <PresentationFormat>On-screen Show (4:3)</PresentationFormat>
  <Paragraphs>108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Microsoft Office User</dc:creator>
  <cp:lastModifiedBy>Sagar Vinod Gour</cp:lastModifiedBy>
  <cp:revision>63</cp:revision>
  <dcterms:created xsi:type="dcterms:W3CDTF">2020-12-17T21:21:33Z</dcterms:created>
  <dcterms:modified xsi:type="dcterms:W3CDTF">2026-04-05T04:41:41Z</dcterms:modified>
</cp:coreProperties>
</file>